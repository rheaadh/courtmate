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149c1b3214424e" /><Relationship Type="http://schemas.openxmlformats.org/officeDocument/2006/relationships/extended-properties" Target="/docProps/app.xml" Id="R10703a5e119f4d63" /><Relationship Type="http://schemas.openxmlformats.org/officeDocument/2006/relationships/officeDocument" Target="/ppt/presentation.xml" Id="R6258bce16aa049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6f6e61f0344599"/>
  </p:sldMasterIdLst>
  <p:notesMasterIdLst>
    <p:notesMasterId xmlns:r="http://schemas.openxmlformats.org/officeDocument/2006/relationships" r:id="Rbd14ccfb864d401f"/>
  </p:notesMasterIdLst>
  <p:sldIdLst>
    <p:sldId xmlns:r="http://schemas.openxmlformats.org/officeDocument/2006/relationships" id="256" r:id="Rc31bbd12f9a849b5"/>
    <p:sldId xmlns:r="http://schemas.openxmlformats.org/officeDocument/2006/relationships" id="257" r:id="R320e778798864c8a"/>
    <p:sldId xmlns:r="http://schemas.openxmlformats.org/officeDocument/2006/relationships" id="258" r:id="Rcadf5203965d4f96"/>
    <p:sldId xmlns:r="http://schemas.openxmlformats.org/officeDocument/2006/relationships" id="259" r:id="R559e51aa4df94fad"/>
    <p:sldId xmlns:r="http://schemas.openxmlformats.org/officeDocument/2006/relationships" id="260" r:id="Rbf5333f42c65489e"/>
    <p:sldId xmlns:r="http://schemas.openxmlformats.org/officeDocument/2006/relationships" id="261" r:id="Rc021edfd068e4ed5"/>
    <p:sldId xmlns:r="http://schemas.openxmlformats.org/officeDocument/2006/relationships" id="262" r:id="R52f8b48bced6489f"/>
    <p:sldId xmlns:r="http://schemas.openxmlformats.org/officeDocument/2006/relationships" id="263" r:id="Rd2b1b665ce1e4b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0499160bd44a06" /><Relationship Type="http://schemas.openxmlformats.org/officeDocument/2006/relationships/slideMaster" Target="/ppt/slideMasters/slideMaster1.xml" Id="R2b6f6e61f0344599" /><Relationship Type="http://schemas.openxmlformats.org/officeDocument/2006/relationships/notesMaster" Target="/ppt/notesMasters/notesMaster1.xml" Id="Rbd14ccfb864d401f" /><Relationship Type="http://schemas.openxmlformats.org/officeDocument/2006/relationships/presProps" Target="/ppt/presProps.xml" Id="Rd4050ddaaa074527" /><Relationship Type="http://schemas.openxmlformats.org/officeDocument/2006/relationships/tableStyles" Target="/ppt/tableStyles.xml" Id="R2c0957286dde4633" /><Relationship Type="http://schemas.openxmlformats.org/officeDocument/2006/relationships/slide" Target="/ppt/slides/slide1.xml" Id="Rc31bbd12f9a849b5" /><Relationship Type="http://schemas.openxmlformats.org/officeDocument/2006/relationships/slide" Target="/ppt/slides/slide2.xml" Id="R320e778798864c8a" /><Relationship Type="http://schemas.openxmlformats.org/officeDocument/2006/relationships/slide" Target="/ppt/slides/slide3.xml" Id="Rcadf5203965d4f96" /><Relationship Type="http://schemas.openxmlformats.org/officeDocument/2006/relationships/slide" Target="/ppt/slides/slide4.xml" Id="R559e51aa4df94fad" /><Relationship Type="http://schemas.openxmlformats.org/officeDocument/2006/relationships/slide" Target="/ppt/slides/slide5.xml" Id="Rbf5333f42c65489e" /><Relationship Type="http://schemas.openxmlformats.org/officeDocument/2006/relationships/slide" Target="/ppt/slides/slide6.xml" Id="Rc021edfd068e4ed5" /><Relationship Type="http://schemas.openxmlformats.org/officeDocument/2006/relationships/slide" Target="/ppt/slides/slide7.xml" Id="R52f8b48bced6489f" /><Relationship Type="http://schemas.openxmlformats.org/officeDocument/2006/relationships/slide" Target="/ppt/slides/slide8.xml" Id="Rd2b1b665ce1e4b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476f3c1a834a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f3086bd0ac4c95" /><Relationship Type="http://schemas.openxmlformats.org/officeDocument/2006/relationships/notesMaster" Target="/ppt/notesMasters/notesMaster1.xml" Id="Rafb0a2c53cf44d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16cca3d71d4c72" /><Relationship Type="http://schemas.openxmlformats.org/officeDocument/2006/relationships/notesMaster" Target="/ppt/notesMasters/notesMaster1.xml" Id="R64a22efbcf8a4b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d51bed2dff429d" /><Relationship Type="http://schemas.openxmlformats.org/officeDocument/2006/relationships/notesMaster" Target="/ppt/notesMasters/notesMaster1.xml" Id="Refc7cd8517534a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10cb628bac4597" /><Relationship Type="http://schemas.openxmlformats.org/officeDocument/2006/relationships/notesMaster" Target="/ppt/notesMasters/notesMaster1.xml" Id="Rcdcb33d028d040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cec8ffe15d45b3" /><Relationship Type="http://schemas.openxmlformats.org/officeDocument/2006/relationships/notesMaster" Target="/ppt/notesMasters/notesMaster1.xml" Id="R7b22878b14fe4e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c9dfbefce04775" /><Relationship Type="http://schemas.openxmlformats.org/officeDocument/2006/relationships/notesMaster" Target="/ppt/notesMasters/notesMaster1.xml" Id="R36b6ee64394044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4edd3a4dd34379" /><Relationship Type="http://schemas.openxmlformats.org/officeDocument/2006/relationships/notesMaster" Target="/ppt/notesMasters/notesMaster1.xml" Id="R2137ce66f4534d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7aa5c8c3ad4554" /><Relationship Type="http://schemas.openxmlformats.org/officeDocument/2006/relationships/notesMaster" Target="/ppt/notesMasters/notesMaster1.xml" Id="Re0231b1898ea43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98758da4f4f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fe13b5ef2147ec" /><Relationship Type="http://schemas.openxmlformats.org/officeDocument/2006/relationships/slideLayout" Target="/ppt/slideLayouts/slideLayout1.xml" Id="R5b0cf5d8656a4c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0cf5d8656a4c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473ef6ada46fa" /><Relationship Type="http://schemas.openxmlformats.org/officeDocument/2006/relationships/notesSlide" Target="/ppt/notesSlides/notesSlide1.xml" Id="R65f6195730df47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68e02085e46cb" /><Relationship Type="http://schemas.openxmlformats.org/officeDocument/2006/relationships/notesSlide" Target="/ppt/notesSlides/notesSlide2.xml" Id="Rc46b3abfe51f49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2f8561d7d4f9f" /><Relationship Type="http://schemas.openxmlformats.org/officeDocument/2006/relationships/notesSlide" Target="/ppt/notesSlides/notesSlide3.xml" Id="R53a6caefac674b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9a1e9037641cf" /><Relationship Type="http://schemas.openxmlformats.org/officeDocument/2006/relationships/notesSlide" Target="/ppt/notesSlides/notesSlide4.xml" Id="R490c662b900645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8d2e71bf840ff" /><Relationship Type="http://schemas.openxmlformats.org/officeDocument/2006/relationships/notesSlide" Target="/ppt/notesSlides/notesSlide5.xml" Id="R1bcf572d8aba42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e95996c0c4fe3" /><Relationship Type="http://schemas.openxmlformats.org/officeDocument/2006/relationships/notesSlide" Target="/ppt/notesSlides/notesSlide6.xml" Id="Rf05ad7a9d5be43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8361e7aac4c8a" /><Relationship Type="http://schemas.openxmlformats.org/officeDocument/2006/relationships/notesSlide" Target="/ppt/notesSlides/notesSlide7.xml" Id="Raae8d93356714c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5d595066f4b44" /><Relationship Type="http://schemas.openxmlformats.org/officeDocument/2006/relationships/notesSlide" Target="/ppt/notesSlides/notesSlide8.xml" Id="R198169d24ad549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F9568-F381-4EE4-B378-D6E8095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514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BDF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7EBA0-6039-4DA8-8A57-1D2BB189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2638"/>
                </a:solidFill>
              </a:defRPr>
            </a:pPr>
            <a:r>
              <a:rPr sz="1125" b="1">
                <a:solidFill>
                  <a:srgbClr val="0A2638"/>
                </a:solidFill>
              </a:rPr>
              <a:t>HACKATHON MVP · BENGALURU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08DB3-0EF4-4946-B626-3EE96845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CourtMate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3E859-85D3-4E16-9FEB-855BC383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DF2D5"/>
                </a:solidFill>
              </a:defRPr>
            </a:pPr>
            <a:r>
              <a:rPr sz="2325" b="0">
                <a:solidFill>
                  <a:srgbClr val="BDF2D5"/>
                </a:solidFill>
              </a:rPr>
              <a:t>Fill the game. Play with the right people. Keep the circle alive.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FB23D-2050-4607-BBBC-FA17D409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4E0E6"/>
                </a:solidFill>
              </a:defRPr>
            </a:pPr>
            <a:r>
              <a:rPr sz="1500" b="0">
                <a:solidFill>
                  <a:srgbClr val="D4E0E6"/>
                </a:solidFill>
              </a:rPr>
              <a:t>One source of truth for recreational racket-sport sessions—from discovery to the next game.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14B50-EF2E-4F71-A001-7989B9B8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04900"/>
            <a:ext cx="3143250" cy="43624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3B50"/>
          </a:solidFill>
          <a:ln xmlns:a="http://schemas.openxmlformats.org/drawingml/2006/main" w="9525">
            <a:solidFill>
              <a:srgbClr val="4F748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0D9F3-A29D-44A8-B9C1-47938EAC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86125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F2D5"/>
          </a:solidFill>
          <a:ln xmlns:a="http://schemas.openxmlformats.org/drawingml/2006/main" w="0">
            <a:solidFill>
              <a:srgbClr val="BDF2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A67C5-1F22-4C4F-A19C-8C413F66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43100"/>
            <a:ext cx="1143000" cy="1143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DF2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FCA09-62F8-4780-8578-075AF4F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0"/>
          </a:solidFill>
          <a:ln xmlns:a="http://schemas.openxmlformats.org/drawingml/2006/main" w="0">
            <a:solidFill>
              <a:srgbClr val="FF8B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911F6-BBFD-4DB7-A05E-CDFF3F2B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053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 sports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2FF51-B478-49E7-A2B1-A0BC0902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053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 player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E26FA-73D0-45C0-8566-3F420CD9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BA"/>
                </a:solidFill>
              </a:defRPr>
            </a:pPr>
            <a:r>
              <a:rPr sz="1050" b="0">
                <a:solidFill>
                  <a:srgbClr val="9FB0BA"/>
                </a:solidFill>
              </a:rPr>
              <a:t>Product + technical overview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92307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E4E08-6974-4976-B449-DFA19809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6A"/>
                </a:solidFill>
              </a:defRPr>
            </a:pPr>
            <a:r>
              <a:rPr sz="1050" b="1">
                <a:solidFill>
                  <a:srgbClr val="16A36A"/>
                </a:solidFill>
              </a:rPr>
              <a:t>THE COORDINATION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44AB2-EC12-48DD-804C-D194959D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A booked court can still become an empty court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59C97-D460-42B6-8C16-B0D5ABCF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16A"/>
                </a:solidFill>
              </a:defRPr>
            </a:pPr>
            <a:r>
              <a:rPr sz="975" b="1">
                <a:solidFill>
                  <a:srgbClr val="58616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4E33F-7E00-46C4-8DE7-9C9FF3AE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6A"/>
                </a:solidFill>
              </a:defRPr>
            </a:pPr>
            <a:r>
              <a:rPr sz="1575" b="0">
                <a:solidFill>
                  <a:srgbClr val="58616A"/>
                </a:solidFill>
              </a:rPr>
              <a:t>Today’s tools help people chat or book. They do not maintain a reliable session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6C92D-19D0-4C8B-B3CF-D2D7CB59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6A"/>
                </a:solidFill>
              </a:defRPr>
            </a:pPr>
            <a:r>
              <a:rPr sz="2100" b="1">
                <a:solidFill>
                  <a:srgbClr val="16A36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66200-5090-4309-9D91-28F24D6C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solidFill>
              <a:srgbClr val="D7DE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0FCE1-0A36-4714-80DE-33E8BCA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</a:defRPr>
            </a:pPr>
            <a:r>
              <a:rPr sz="1725" b="1">
                <a:solidFill>
                  <a:srgbClr val="101418"/>
                </a:solidFill>
              </a:rPr>
              <a:t>Scattered replies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9719F-69D6-42B5-A3F0-6658A964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71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6A"/>
                </a:solidFill>
              </a:defRPr>
            </a:pPr>
            <a:r>
              <a:rPr sz="1425" b="0">
                <a:solidFill>
                  <a:srgbClr val="58616A"/>
                </a:solidFill>
              </a:rPr>
              <a:t>No durable view of who is confirmed, waiting, or leaving.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051DE-4529-4232-AA5B-D52B4CE5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6A"/>
                </a:solidFill>
              </a:defRPr>
            </a:pPr>
            <a:r>
              <a:rPr sz="2100" b="1">
                <a:solidFill>
                  <a:srgbClr val="16A36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1CA40-43E4-4B0D-A7D3-87D5D476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solidFill>
              <a:srgbClr val="D7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BFF28-59C0-45C5-BCCC-A8649DDD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</a:defRPr>
            </a:pPr>
            <a:r>
              <a:rPr sz="1725" b="1">
                <a:solidFill>
                  <a:srgbClr val="101418"/>
                </a:solidFill>
              </a:rPr>
              <a:t>Fuzzy skill labels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51073-277A-4735-801D-78E794A5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6A"/>
                </a:solidFill>
              </a:defRPr>
            </a:pPr>
            <a:r>
              <a:rPr sz="1425" b="0">
                <a:solidFill>
                  <a:srgbClr val="58616A"/>
                </a:solidFill>
              </a:rPr>
              <a:t>“Intermediate” means something different in every community.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6AA94-44D8-464B-B198-B737F787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6A"/>
                </a:solidFill>
              </a:defRPr>
            </a:pPr>
            <a:r>
              <a:rPr sz="2100" b="1">
                <a:solidFill>
                  <a:srgbClr val="16A36A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6FEE2-411D-4DFE-85FF-2858715F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solidFill>
              <a:srgbClr val="D7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EC303-6E17-46EF-9089-659FB3C8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00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</a:defRPr>
            </a:pPr>
            <a:r>
              <a:rPr sz="1725" b="1">
                <a:solidFill>
                  <a:srgbClr val="101418"/>
                </a:solidFill>
              </a:rPr>
              <a:t>Dropout scramble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B25E1-985A-4E66-A38B-30FAD07D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6A"/>
                </a:solidFill>
              </a:defRPr>
            </a:pPr>
            <a:r>
              <a:rPr sz="1425" b="0">
                <a:solidFill>
                  <a:srgbClr val="58616A"/>
                </a:solidFill>
              </a:rPr>
              <a:t>One cancellation triggers repetitive organizer work and lost court 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AC814-8E3B-4099-A015-48A359D3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6A"/>
                </a:solidFill>
              </a:defRPr>
            </a:pPr>
            <a:r>
              <a:rPr sz="2100" b="1">
                <a:solidFill>
                  <a:srgbClr val="16A36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EF384-E5B7-40FC-9D34-0942010A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solidFill>
              <a:srgbClr val="D7DE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EEB5F-E4CD-4DCD-BBD9-031C688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14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</a:defRPr>
            </a:pPr>
            <a:r>
              <a:rPr sz="1725" b="1">
                <a:solidFill>
                  <a:srgbClr val="101418"/>
                </a:solidFill>
              </a:rPr>
              <a:t>Connections disappear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D9633-021B-4AFC-8C29-39464918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6A"/>
                </a:solidFill>
              </a:defRPr>
            </a:pPr>
            <a:r>
              <a:rPr sz="1425" b="0">
                <a:solidFill>
                  <a:srgbClr val="58616A"/>
                </a:solidFill>
              </a:rPr>
              <a:t>Good games rarely become persistent sporting relationships.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C02F9-1BA5-41BE-9E35-6A4423F4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638"/>
                </a:solidFill>
              </a:defRPr>
            </a:pPr>
            <a:r>
              <a:rPr sz="1875" b="1">
                <a:solidFill>
                  <a:srgbClr val="0A2638"/>
                </a:solidFill>
              </a:rPr>
              <a:t>The failure is not discovery alone—it is continuity.</a:t>
            </a:r>
          </a:p>
        </p:txBody>
      </p:sp>
    </p:spTree>
    <p:extLst>
      <p:ext uri="{BB962C8B-B14F-4D97-AF65-F5344CB8AC3E}">
        <p14:creationId xmlns:p14="http://schemas.microsoft.com/office/powerpoint/2010/main" val="7194449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E0E690-A925-4A26-8E24-F37FEA8B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6A"/>
                </a:solidFill>
              </a:defRPr>
            </a:pPr>
            <a:r>
              <a:rPr sz="1050" b="1">
                <a:solidFill>
                  <a:srgbClr val="16A36A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A0493-A691-455D-9F31-3A53450A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One session record carries the entire game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3245C-337A-4945-AB8F-F1CF574E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16A"/>
                </a:solidFill>
              </a:defRPr>
            </a:pPr>
            <a:r>
              <a:rPr sz="975" b="1">
                <a:solidFill>
                  <a:srgbClr val="58616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8E755-DDB6-4F42-A67F-89A2FE0E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6A"/>
                </a:solidFill>
              </a:defRPr>
            </a:pPr>
            <a:r>
              <a:rPr sz="1500" b="0">
                <a:solidFill>
                  <a:srgbClr val="58616A"/>
                </a:solidFill>
              </a:rPr>
              <a:t>CourtMate joins discovery, registration, coordination, completion, and social activity without replacing familiar sharing channels.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49617-8FD5-4C96-836E-65F2F1F9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solidFill>
              <a:srgbClr val="16A3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CE2E0-DABE-44DC-A2A8-F9767717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F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C8FFC-5F18-446F-A8CA-20A2D7DB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638"/>
                </a:solidFill>
              </a:defRPr>
            </a:pPr>
            <a:r>
              <a:rPr sz="1350" b="1">
                <a:solidFill>
                  <a:srgbClr val="0A263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89DD1-3B81-46E2-8384-DE9799FB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88CF6-C8EB-4712-A778-4CC83B75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6A"/>
                </a:solidFill>
              </a:defRPr>
            </a:pPr>
            <a:r>
              <a:rPr sz="1275" b="0">
                <a:solidFill>
                  <a:srgbClr val="58616A"/>
                </a:solidFill>
              </a:rPr>
              <a:t>Nearby games, map and natural-language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F5CFD-8AE3-458E-97D0-8A1C3CC5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solidFill>
              <a:srgbClr val="16A3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03E0B-E46C-4C10-963D-73B73EFE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7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F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8329C-A0BE-4D55-A639-653A352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638"/>
                </a:solidFill>
              </a:defRPr>
            </a:pPr>
            <a:r>
              <a:rPr sz="1350" b="1">
                <a:solidFill>
                  <a:srgbClr val="0A263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8B698-5A50-4211-8828-E98CDFB2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Join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389D9-7CA6-49B0-B379-2F42390E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10025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6A"/>
                </a:solidFill>
              </a:defRPr>
            </a:pPr>
            <a:r>
              <a:rPr sz="1275" b="0">
                <a:solidFill>
                  <a:srgbClr val="58616A"/>
                </a:solidFill>
              </a:rPr>
              <a:t>CMR fit, live capacity and waitlist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E106A-9FB8-463C-A1F9-A16D36E3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solidFill>
              <a:srgbClr val="16A3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AA982-23CB-4C89-813B-293A1563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47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F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3E978-1440-491E-888A-4E4FC9D9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638"/>
                </a:solidFill>
              </a:defRPr>
            </a:pPr>
            <a:r>
              <a:rPr sz="1350" b="1">
                <a:solidFill>
                  <a:srgbClr val="0A263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71DEC-F2F8-47B8-B7E5-4C243711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00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Coordinate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10167-3829-45BF-BB7C-8EDA6501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0025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6A"/>
                </a:solidFill>
              </a:defRPr>
            </a:pPr>
            <a:r>
              <a:rPr sz="1275" b="0">
                <a:solidFill>
                  <a:srgbClr val="58616A"/>
                </a:solidFill>
              </a:rPr>
              <a:t>Rally Circle, lineup, chat and time poll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C3594-20D4-415A-B5F0-F1606FA0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solidFill>
              <a:srgbClr val="16A3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314CA-B68C-459E-97D8-DA6DCBF2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F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0B8A4-CF15-4D39-BE62-8B1695AA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638"/>
                </a:solidFill>
              </a:defRPr>
            </a:pPr>
            <a:r>
              <a:rPr sz="1350" b="1">
                <a:solidFill>
                  <a:srgbClr val="0A263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AE1D3-923C-4265-8D8B-AF5F0257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0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22252-B09E-47FC-8CBD-B0B9538E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10025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6A"/>
                </a:solidFill>
              </a:defRPr>
            </a:pPr>
            <a:r>
              <a:rPr sz="1275" b="0">
                <a:solidFill>
                  <a:srgbClr val="58616A"/>
                </a:solidFill>
              </a:rPr>
              <a:t>Casual or confirmed competitive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15EEF-DB85-4D4F-B3D3-A7878C71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47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35A3E-FCD3-4E0E-85E7-EFED5105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B0D5F1-CC72-4915-A8A1-75C5D248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0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Reconnect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24BCB-A1B6-4D3D-A1FC-1016C018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10025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6A"/>
                </a:solidFill>
              </a:defRPr>
            </a:pPr>
            <a:r>
              <a:rPr sz="1275" b="0">
                <a:solidFill>
                  <a:srgbClr val="58616A"/>
                </a:solidFill>
              </a:rPr>
              <a:t>Feedback, CMR, post, profile and next game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7083E-3020-463F-8203-16482D43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363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1DC7DD-961C-4779-BBEE-D8EB35CE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48325"/>
            <a:ext cx="982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638"/>
                </a:solidFill>
              </a:defRPr>
            </a:pPr>
            <a:r>
              <a:rPr sz="1650" b="1">
                <a:solidFill>
                  <a:srgbClr val="0A2638"/>
                </a:solidFill>
              </a:rPr>
              <a:t>Create or discover  →  fill the lineup  →  play  →  record  →  return</a:t>
            </a:r>
          </a:p>
        </p:txBody>
      </p:sp>
    </p:spTree>
    <p:extLst>
      <p:ext uri="{BB962C8B-B14F-4D97-AF65-F5344CB8AC3E}">
        <p14:creationId xmlns:p14="http://schemas.microsoft.com/office/powerpoint/2010/main" val="1476480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60D521-4BD8-4E83-A635-31B16B6B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F2D5"/>
                </a:solidFill>
              </a:defRPr>
            </a:pPr>
            <a:r>
              <a:rPr sz="1050" b="1">
                <a:solidFill>
                  <a:srgbClr val="BDF2D5"/>
                </a:solidFill>
              </a:rPr>
              <a:t>DESIGNED FOR BOTH SIDES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B8200-60B6-49E0-B2C3-28B7F888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Players get fit; organizers get 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4CEE8-60BC-4E2F-A5DC-4B644FB8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A"/>
                </a:solidFill>
              </a:defRPr>
            </a:pPr>
            <a:r>
              <a:rPr sz="975" b="1">
                <a:solidFill>
                  <a:srgbClr val="9FB0BA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355CB-44A3-4333-9602-8AEAB809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1435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3B50"/>
          </a:solidFill>
          <a:ln xmlns:a="http://schemas.openxmlformats.org/drawingml/2006/main" w="9525">
            <a:solidFill>
              <a:srgbClr val="3157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A6CCB-7E00-402D-B5BF-C82CB80B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51435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3B50"/>
          </a:solidFill>
          <a:ln xmlns:a="http://schemas.openxmlformats.org/drawingml/2006/main" w="9525">
            <a:solidFill>
              <a:srgbClr val="3157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77F46-1416-4EA8-9C09-80FD1E92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F2D5"/>
                </a:solidFill>
              </a:defRPr>
            </a:pPr>
            <a:r>
              <a:rPr sz="1050" b="1">
                <a:solidFill>
                  <a:srgbClr val="BDF2D5"/>
                </a:solidFill>
              </a:rPr>
              <a:t>PLAYER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A6345-D95F-4B2B-A25E-1439BDDD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Find a game that fits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EADEA-FB02-4022-9A0C-CC3101D1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146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DF2D5"/>
                </a:solidFill>
              </a:defRPr>
            </a:pPr>
            <a:r>
              <a:rPr sz="1500" b="1">
                <a:solidFill>
                  <a:srgbClr val="BDF2D5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FB4E3-445D-4C41-8578-7139D929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14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EC"/>
                </a:solidFill>
              </a:defRPr>
            </a:pPr>
            <a:r>
              <a:rPr sz="1350" b="0">
                <a:solidFill>
                  <a:srgbClr val="DCE7EC"/>
                </a:solidFill>
              </a:rPr>
              <a:t>Search by sport, time, distance and CMR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53498-D68B-41DF-8D39-642993F4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DF2D5"/>
                </a:solidFill>
              </a:defRPr>
            </a:pPr>
            <a:r>
              <a:rPr sz="1500" b="1">
                <a:solidFill>
                  <a:srgbClr val="BDF2D5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FD7EC-DCC0-4128-BEDA-4DC16F64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EC"/>
                </a:solidFill>
              </a:defRPr>
            </a:pPr>
            <a:r>
              <a:rPr sz="1350" b="0">
                <a:solidFill>
                  <a:srgbClr val="DCE7EC"/>
                </a:solidFill>
              </a:rPr>
              <a:t>Join through a shared web link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686FB-6850-46F3-97DC-4821B0E8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DF2D5"/>
                </a:solidFill>
              </a:defRPr>
            </a:pPr>
            <a:r>
              <a:rPr sz="1500" b="1">
                <a:solidFill>
                  <a:srgbClr val="BDF2D5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72827-0E4B-4133-A8B6-E52BA4E9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00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EC"/>
                </a:solidFill>
              </a:defRPr>
            </a:pPr>
            <a:r>
              <a:rPr sz="1350" b="0">
                <a:solidFill>
                  <a:srgbClr val="DCE7EC"/>
                </a:solidFill>
              </a:rPr>
              <a:t>Carry history, streaks and sport-specific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E1E8B-A7CF-4DB8-8CC5-0D028841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DF2D5"/>
                </a:solidFill>
              </a:defRPr>
            </a:pPr>
            <a:r>
              <a:rPr sz="1500" b="1">
                <a:solidFill>
                  <a:srgbClr val="BDF2D5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5078B-186E-463D-B943-8A17631E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EC"/>
                </a:solidFill>
              </a:defRPr>
            </a:pPr>
            <a:r>
              <a:rPr sz="1350" b="0">
                <a:solidFill>
                  <a:srgbClr val="DCE7EC"/>
                </a:solidFill>
              </a:rPr>
              <a:t>Reconnect through profiles, posts and repeat games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AC025-5F92-4038-BF23-A14C19C3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43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F2D5"/>
                </a:solidFill>
              </a:defRPr>
            </a:pPr>
            <a:r>
              <a:rPr sz="1050" b="1">
                <a:solidFill>
                  <a:srgbClr val="BDF2D5"/>
                </a:solidFill>
              </a:rPr>
              <a:t>ORGANIZER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32562-E265-47DE-B281-B09DDBC9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Run the game without the scramble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FEB71-A8B2-4960-A3B9-997D3620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146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DF2D5"/>
                </a:solidFill>
              </a:defRPr>
            </a:pPr>
            <a:r>
              <a:rPr sz="1500" b="1">
                <a:solidFill>
                  <a:srgbClr val="BDF2D5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AA1B2-3CC4-405D-B519-D64FF62C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14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EC"/>
                </a:solidFill>
              </a:defRPr>
            </a:pPr>
            <a:r>
              <a:rPr sz="1350" b="0">
                <a:solidFill>
                  <a:srgbClr val="DCE7EC"/>
                </a:solidFill>
              </a:rPr>
              <a:t>One live lineup for capacity and requests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5DD83-D843-45F1-A6FF-949A1A47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DF2D5"/>
                </a:solidFill>
              </a:defRPr>
            </a:pPr>
            <a:r>
              <a:rPr sz="1500" b="1">
                <a:solidFill>
                  <a:srgbClr val="BDF2D5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B0D0A-4E62-4B0D-9CC8-F1FD7269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576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EC"/>
                </a:solidFill>
              </a:defRPr>
            </a:pPr>
            <a:r>
              <a:rPr sz="1350" b="0">
                <a:solidFill>
                  <a:srgbClr val="DCE7EC"/>
                </a:solidFill>
              </a:rPr>
              <a:t>Ordered waitlist with automatic promotion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D7E5B-0614-45C4-BC7C-C61C61EB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00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DF2D5"/>
                </a:solidFill>
              </a:defRPr>
            </a:pPr>
            <a:r>
              <a:rPr sz="1500" b="1">
                <a:solidFill>
                  <a:srgbClr val="BDF2D5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0C38D-51AD-48C0-A266-82266546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00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EC"/>
                </a:solidFill>
              </a:defRPr>
            </a:pPr>
            <a:r>
              <a:rPr sz="1350" b="0">
                <a:solidFill>
                  <a:srgbClr val="DCE7EC"/>
                </a:solidFill>
              </a:rPr>
              <a:t>Replacement suggestions based on fit and reliability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80F07-44D6-4A9F-BFE2-B5E2D471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DF2D5"/>
                </a:solidFill>
              </a:defRPr>
            </a:pPr>
            <a:r>
              <a:rPr sz="1500" b="1">
                <a:solidFill>
                  <a:srgbClr val="BDF2D5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109F5-35D6-4915-BD29-7EB92BE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43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EC"/>
                </a:solidFill>
              </a:defRPr>
            </a:pPr>
            <a:r>
              <a:rPr sz="1350" b="0">
                <a:solidFill>
                  <a:srgbClr val="DCE7EC"/>
                </a:solidFill>
              </a:rPr>
              <a:t>Completion, feedback and reminders stay attached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08ED7E-E1FF-4468-9E59-5452A4D8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DF2D5"/>
                </a:solidFill>
              </a:defRPr>
            </a:pPr>
            <a:r>
              <a:rPr sz="1650" b="1">
                <a:solidFill>
                  <a:srgbClr val="BDF2D5"/>
                </a:solidFill>
              </a:rPr>
              <a:t>Shared outcome: better-filled courts and groups people want to return to.</a:t>
            </a:r>
          </a:p>
        </p:txBody>
      </p:sp>
    </p:spTree>
    <p:extLst>
      <p:ext uri="{BB962C8B-B14F-4D97-AF65-F5344CB8AC3E}">
        <p14:creationId xmlns:p14="http://schemas.microsoft.com/office/powerpoint/2010/main" val="63032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432E3-DF18-4E75-A169-40AD89CD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6A"/>
                </a:solidFill>
              </a:defRPr>
            </a:pPr>
            <a:r>
              <a:rPr sz="1050" b="1">
                <a:solidFill>
                  <a:srgbClr val="16A36A"/>
                </a:solidFill>
              </a:rPr>
              <a:t>THE DEFENSIBLE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14BA8-DEC6-418D-8EB8-4985DAD4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CMR turns coordination into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AFDC1-A2C3-4EFC-B5C8-CBEB8B36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16A"/>
                </a:solidFill>
              </a:defRPr>
            </a:pPr>
            <a:r>
              <a:rPr sz="975" b="1">
                <a:solidFill>
                  <a:srgbClr val="58616A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DE131-B137-460F-9CEE-11612B4B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6A"/>
                </a:solidFill>
              </a:defRPr>
            </a:pPr>
            <a:r>
              <a:rPr sz="1500" b="0">
                <a:solidFill>
                  <a:srgbClr val="58616A"/>
                </a:solidFill>
              </a:rPr>
              <a:t>CourtMate is not another booking app or chat group. Its value compounds across verified games.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DC41C-85E1-4485-AE88-2FBBD932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21945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0C186-5DE8-4DCC-BFE0-AD5610B5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6A"/>
                </a:solidFill>
              </a:defRPr>
            </a:pPr>
            <a:r>
              <a:rPr sz="1200" b="1">
                <a:solidFill>
                  <a:srgbClr val="16A36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5CB25-CF1C-44F8-971F-F395C62D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2638"/>
                </a:solidFill>
              </a:defRPr>
            </a:pPr>
            <a:r>
              <a:rPr sz="2025" b="1">
                <a:solidFill>
                  <a:srgbClr val="0A2638"/>
                </a:solidFill>
              </a:rPr>
              <a:t>Compatibility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ABA18-2BD1-4C91-A794-DCB75F58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714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6A"/>
                </a:solidFill>
              </a:defRPr>
            </a:pPr>
            <a:r>
              <a:rPr sz="1425" b="0">
                <a:solidFill>
                  <a:srgbClr val="58616A"/>
                </a:solidFill>
              </a:rPr>
              <a:t>A separate 1.00–10.00 CourtMate Rating for each sport, designed for game fit—not popularity.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94803-26DD-4EBE-B1A4-8E5A887F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321945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BDF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F53D9-D8EF-461F-9274-6B7FB965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717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6A"/>
                </a:solidFill>
              </a:defRPr>
            </a:pPr>
            <a:r>
              <a:rPr sz="1200" b="1">
                <a:solidFill>
                  <a:srgbClr val="16A36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4B363-5A76-42BE-A347-D693ADF5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670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2638"/>
                </a:solidFill>
              </a:defRPr>
            </a:pPr>
            <a:r>
              <a:rPr sz="2025" b="1">
                <a:solidFill>
                  <a:srgbClr val="0A2638"/>
                </a:solidFill>
              </a:rPr>
              <a:t>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BA119-74E4-449E-AFD7-FF60E3D9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86150"/>
            <a:ext cx="2714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6A"/>
                </a:solidFill>
              </a:defRPr>
            </a:pPr>
            <a:r>
              <a:rPr sz="1425" b="0">
                <a:solidFill>
                  <a:srgbClr val="58616A"/>
                </a:solidFill>
              </a:rPr>
              <a:t>Attendance, withdrawals and repeat participation help organizers choose dependable lineups.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31932-2A2B-49C9-A3C7-BDDA4FC9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321945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6DBA8-F4FE-4882-9AC4-A9C2B809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717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6A"/>
                </a:solidFill>
              </a:defRPr>
            </a:pPr>
            <a:r>
              <a:rPr sz="1200" b="1">
                <a:solidFill>
                  <a:srgbClr val="16A36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0B47E-6E99-43D3-98FF-79EA4A5A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670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2638"/>
                </a:solidFill>
              </a:defRPr>
            </a:pPr>
            <a:r>
              <a:rPr sz="2025" b="1">
                <a:solidFill>
                  <a:srgbClr val="0A2638"/>
                </a:solidFill>
              </a:rPr>
              <a:t>Continuity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279BC-F967-4779-9BC8-D6C46779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86150"/>
            <a:ext cx="2714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16A"/>
                </a:solidFill>
              </a:defRPr>
            </a:pPr>
            <a:r>
              <a:rPr sz="1425" b="0">
                <a:solidFill>
                  <a:srgbClr val="58616A"/>
                </a:solidFill>
              </a:rPr>
              <a:t>Waitlists, Rally Circles, completed games and relationships persist on the same session record.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90BF3-F8F1-4204-9895-4FE406FF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34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A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D5754-72BF-4FB8-A221-67A4099D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Casual play builds activity and relationships. Only fully confirmed competitive results change CMR.</a:t>
            </a:r>
          </a:p>
        </p:txBody>
      </p:sp>
    </p:spTree>
    <p:extLst>
      <p:ext uri="{BB962C8B-B14F-4D97-AF65-F5344CB8AC3E}">
        <p14:creationId xmlns:p14="http://schemas.microsoft.com/office/powerpoint/2010/main" val="856064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DAEAB-091B-44A2-A7BA-2ED2911D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6A"/>
                </a:solidFill>
              </a:defRPr>
            </a:pPr>
            <a:r>
              <a:rPr sz="1050" b="1">
                <a:solidFill>
                  <a:srgbClr val="16A36A"/>
                </a:solidFill>
              </a:rPr>
              <a:t>GOOGLE CLOUD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89279-1D45-4060-BDC0-F98520EC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AI interprets intent; deterministic services keep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733BA-23CE-47B8-AFBB-22035ABB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16A"/>
                </a:solidFill>
              </a:defRPr>
            </a:pPr>
            <a:r>
              <a:rPr sz="975" b="1">
                <a:solidFill>
                  <a:srgbClr val="58616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E2ECD-593B-423E-BF1A-4E05E006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6A"/>
                </a:solidFill>
              </a:defRPr>
            </a:pPr>
            <a:r>
              <a:rPr sz="1500" b="0">
                <a:solidFill>
                  <a:srgbClr val="58616A"/>
                </a:solidFill>
              </a:rPr>
              <a:t>Every AI or vector result returns to server-side validation before it reaches the player.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9FB47-733B-45C6-8410-6275F143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6227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solidFill>
              <a:srgbClr val="16A3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A782A-3A8F-4B91-930C-CDB7D8AF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0002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EF602-AF99-4D02-95CC-9BC771C1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6A"/>
                </a:solidFill>
              </a:defRPr>
            </a:pPr>
            <a:r>
              <a:rPr sz="1200" b="1">
                <a:solidFill>
                  <a:srgbClr val="16A36A"/>
                </a:solidFill>
              </a:rPr>
              <a:t>NEXT.JS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9482F-A128-4779-A4E0-9B9DAF43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638"/>
                </a:solidFill>
              </a:defRPr>
            </a:pPr>
            <a:r>
              <a:rPr sz="1350" b="1">
                <a:solidFill>
                  <a:srgbClr val="0A2638"/>
                </a:solidFill>
              </a:rPr>
              <a:t>Maps · sharing · voice · optimistic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EA7D2-445F-4628-B714-123BEE57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6227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solidFill>
              <a:srgbClr val="16A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CD734-A9DE-4246-A511-88DF7100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20002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D18A0-665D-4D6C-B6D0-59036E37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03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DF2D5"/>
                </a:solidFill>
              </a:defRPr>
            </a:pPr>
            <a:r>
              <a:rPr sz="1200" b="1">
                <a:solidFill>
                  <a:srgbClr val="BDF2D5"/>
                </a:solidFill>
              </a:rPr>
              <a:t>CLOUD RUN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6F6B2-8B51-4A7B-8E38-6438C646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9562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FastAPI · auth · lifecycle · matching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53A81-E527-49C1-B362-1A2222FC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6227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solidFill>
              <a:srgbClr val="16A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E52B7-5585-4FBC-B734-92A93EAF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20002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1AB47-6B4E-47E3-AEB9-EAF4FE93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03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6A"/>
                </a:solidFill>
              </a:defRPr>
            </a:pPr>
            <a:r>
              <a:rPr sz="1200" b="1">
                <a:solidFill>
                  <a:srgbClr val="16A36A"/>
                </a:solidFill>
              </a:rPr>
              <a:t>DATA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927E3-4676-405F-93A2-1233620E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9562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638"/>
                </a:solidFill>
              </a:defRPr>
            </a:pPr>
            <a:r>
              <a:rPr sz="1350" b="1">
                <a:solidFill>
                  <a:srgbClr val="0A2638"/>
                </a:solidFill>
              </a:rPr>
              <a:t>Firestore · Storage · vector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6C977-F609-4CEB-A0E7-3824D570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0002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F305B-AD9B-46C9-A498-9F021EFD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6A"/>
                </a:solidFill>
              </a:defRPr>
            </a:pPr>
            <a:r>
              <a:rPr sz="1200" b="1">
                <a:solidFill>
                  <a:srgbClr val="16A36A"/>
                </a:solidFill>
              </a:rPr>
              <a:t>GOOGLE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EB0C9-F41E-4E3D-8EF1-33D520E2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638"/>
                </a:solidFill>
              </a:defRPr>
            </a:pPr>
            <a:r>
              <a:rPr sz="1350" b="1">
                <a:solidFill>
                  <a:srgbClr val="0A2638"/>
                </a:solidFill>
              </a:rPr>
              <a:t>Gemini · Vertex AI embeddings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CC9E3-5D21-4221-9080-334638ED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9486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DF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A70DA-5DE1-4C02-BA1B-64F7F064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6A"/>
                </a:solidFill>
              </a:defRPr>
            </a:pPr>
            <a:r>
              <a:rPr sz="1050" b="1">
                <a:solidFill>
                  <a:srgbClr val="16A36A"/>
                </a:solidFill>
              </a:rPr>
              <a:t>AUTHORITY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194B1-A376-4730-B269-18217210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881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2638"/>
                </a:solidFill>
              </a:defRPr>
            </a:pPr>
            <a:r>
              <a:rPr sz="1500" b="1">
                <a:solidFill>
                  <a:srgbClr val="0A2638"/>
                </a:solidFill>
              </a:rPr>
              <a:t>Visibility, capacity, membership, lifecycle and CMR are always decided by verified API rules.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CB547-87E7-4231-A2D7-4AF3FB7B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A"/>
                </a:solidFill>
              </a:defRPr>
            </a:pPr>
            <a:r>
              <a:rPr sz="1200" b="0">
                <a:solidFill>
                  <a:srgbClr val="58616A"/>
                </a:solidFill>
              </a:rPr>
              <a:t>Firebase Authentication + Google Sign-In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C58D1-DA1B-4967-832D-30F97055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16A"/>
                </a:solidFill>
              </a:defRPr>
            </a:pPr>
            <a:r>
              <a:rPr sz="1200" b="0">
                <a:solidFill>
                  <a:srgbClr val="58616A"/>
                </a:solidFill>
              </a:rPr>
              <a:t>Cloud Storage · Maps · Calendar handoff</a:t>
            </a:r>
          </a:p>
        </p:txBody>
      </p:sp>
    </p:spTree>
    <p:extLst>
      <p:ext uri="{BB962C8B-B14F-4D97-AF65-F5344CB8AC3E}">
        <p14:creationId xmlns:p14="http://schemas.microsoft.com/office/powerpoint/2010/main" val="1343528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F81F4-88BC-4AA1-91A1-865CFC3B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6A"/>
                </a:solidFill>
              </a:defRPr>
            </a:pPr>
            <a:r>
              <a:rPr sz="1050" b="1">
                <a:solidFill>
                  <a:srgbClr val="16A36A"/>
                </a:solidFill>
              </a:rPr>
              <a:t>BUILT FOR LIVE MULTI-USER 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BD0DC-CCD6-4556-BF13-38903FF3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Privacy and reliability are product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6208C-B853-46B3-8D44-AA46BCA2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16A"/>
                </a:solidFill>
              </a:defRPr>
            </a:pPr>
            <a:r>
              <a:rPr sz="975" b="1">
                <a:solidFill>
                  <a:srgbClr val="58616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21BE2-5DEA-4D76-A917-8795C2E9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638"/>
                </a:solidFill>
              </a:defRPr>
            </a:pPr>
            <a:r>
              <a:rPr sz="1725" b="1">
                <a:solidFill>
                  <a:srgbClr val="0A2638"/>
                </a:solidFill>
              </a:rPr>
              <a:t>Private by 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323DF-3E08-4EE0-82AC-0105DA79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6A"/>
                </a:solidFill>
              </a:defRPr>
            </a:pPr>
            <a:r>
              <a:rPr sz="1350" b="0">
                <a:solidFill>
                  <a:srgbClr val="58616A"/>
                </a:solidFill>
              </a:rPr>
              <a:t>Approximate locality and density—not individual home pins.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5F916-31DE-494D-A61C-8DC38499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solidFill>
              <a:srgbClr val="D7DE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1E37D-6ADD-4A5F-95A1-BC5DFA5E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638"/>
                </a:solidFill>
              </a:defRPr>
            </a:pPr>
            <a:r>
              <a:rPr sz="1725" b="1">
                <a:solidFill>
                  <a:srgbClr val="0A2638"/>
                </a:solidFill>
              </a:rPr>
              <a:t>Rechecked on mutation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A0105-5D20-4AEC-8A9E-F64FDEC2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6A"/>
                </a:solidFill>
              </a:defRPr>
            </a:pPr>
            <a:r>
              <a:rPr sz="1350" b="0">
                <a:solidFill>
                  <a:srgbClr val="58616A"/>
                </a:solidFill>
              </a:rPr>
              <a:t>Capacity, visibility and lifecycle are never trusted from client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3B458-64F9-46E9-92DE-047759A8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solidFill>
              <a:srgbClr val="D7DE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E325E-453E-4CE1-B9E9-F031C980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638"/>
                </a:solidFill>
              </a:defRPr>
            </a:pPr>
            <a:r>
              <a:rPr sz="1725" b="1">
                <a:solidFill>
                  <a:srgbClr val="0A2638"/>
                </a:solidFill>
              </a:rPr>
              <a:t>Graceful fallbacks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36EAD-40B3-4F9E-85DB-97D3B17F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6A"/>
                </a:solidFill>
              </a:defRPr>
            </a:pPr>
            <a:r>
              <a:rPr sz="1350" b="0">
                <a:solidFill>
                  <a:srgbClr val="58616A"/>
                </a:solidFill>
              </a:rPr>
              <a:t>Deterministic search, internal maps and in-memory development keep the MVP usable.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25987-E562-4EEF-AA10-3EB4F4B4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solidFill>
              <a:srgbClr val="D7DE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6D0A1-9073-4853-BC4F-B2A3A1DD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24025"/>
            <a:ext cx="48958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A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F60C0-CDD1-4F46-8C71-668AAF2B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F2D5"/>
                </a:solidFill>
              </a:defRPr>
            </a:pPr>
            <a:r>
              <a:rPr sz="1125" b="1">
                <a:solidFill>
                  <a:srgbClr val="BDF2D5"/>
                </a:solidFill>
              </a:rPr>
              <a:t>LIVE STATE WITHOUT RELOADS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9F7AE-5507-42D4-B7DB-64757F97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03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Optimistic updates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7530B-221D-4F30-BF70-8DD6B25B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003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DF2D5"/>
                </a:solidFill>
              </a:defRPr>
            </a:pPr>
            <a:r>
              <a:rPr sz="1950" b="1">
                <a:solidFill>
                  <a:srgbClr val="BDF2D5"/>
                </a:solidFill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FEF92-D3B7-411C-BA0A-EBCDFCB2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Targeted cache invalidation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2EE39-6456-480B-9918-045DB8AD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623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DF2D5"/>
                </a:solidFill>
              </a:defRPr>
            </a:pPr>
            <a:r>
              <a:rPr sz="1950" b="1">
                <a:solidFill>
                  <a:srgbClr val="BDF2D5"/>
                </a:solidFill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902FE-B9A9-41B2-AC7D-D540FB05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242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5-second visible-page polling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A2E07-AF58-4B57-85C8-0898392B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5775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6B"/>
          </a:solidFill>
          <a:ln xmlns:a="http://schemas.openxmlformats.org/drawingml/2006/main" w="0">
            <a:solidFill>
              <a:srgbClr val="3157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751B1-27D0-4616-A25E-AE268BDC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EC"/>
                </a:solidFill>
              </a:defRPr>
            </a:pPr>
            <a:r>
              <a:rPr sz="1350" b="0">
                <a:solidFill>
                  <a:srgbClr val="DCE7EC"/>
                </a:solidFill>
              </a:rPr>
              <a:t>Chat, requests, lineups, profiles and notifications stay current.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6B46A-1280-4B36-A129-2068B3AD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38800"/>
            <a:ext cx="489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6A"/>
                </a:solidFill>
              </a:defRPr>
            </a:pPr>
            <a:r>
              <a:rPr sz="1650" b="1">
                <a:solidFill>
                  <a:srgbClr val="16A36A"/>
                </a:solidFill>
              </a:rPr>
              <a:t>Result: a session behaves like a shared live object—not a static listing.</a:t>
            </a:r>
          </a:p>
        </p:txBody>
      </p:sp>
    </p:spTree>
    <p:extLst>
      <p:ext uri="{BB962C8B-B14F-4D97-AF65-F5344CB8AC3E}">
        <p14:creationId xmlns:p14="http://schemas.microsoft.com/office/powerpoint/2010/main" val="1234705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F1D3F-B16E-4408-8D4D-690CA17E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F2D5"/>
                </a:solidFill>
              </a:defRPr>
            </a:pPr>
            <a:r>
              <a:rPr sz="1050" b="1">
                <a:solidFill>
                  <a:srgbClr val="BDF2D5"/>
                </a:solidFill>
              </a:rPr>
              <a:t>WHAT SUCCESS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A1578-E187-47EF-9CBF-C3B1754C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Prove that CourtMate keeps games full—and players coming 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F6334-F490-4357-A794-6FBB5092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A"/>
                </a:solidFill>
              </a:defRPr>
            </a:pPr>
            <a:r>
              <a:rPr sz="975" b="1">
                <a:solidFill>
                  <a:srgbClr val="9FB0BA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BBF75-63B6-4D15-862A-D86C2146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F2D5"/>
                </a:solidFill>
              </a:defRPr>
            </a:pPr>
            <a:r>
              <a:rPr sz="1050" b="1">
                <a:solidFill>
                  <a:srgbClr val="BDF2D5"/>
                </a:solidFill>
              </a:rPr>
              <a:t>FILL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BC353-4CE7-4F04-99F9-0486A52F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Created sessions that reach capacity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C00A9-625B-4BF1-8057-F7F4F84A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69545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6B"/>
          </a:solidFill>
          <a:ln xmlns:a="http://schemas.openxmlformats.org/drawingml/2006/main" w="0">
            <a:solidFill>
              <a:srgbClr val="3157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BC508-4E56-45B5-B29E-18ADDBE9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954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F2D5"/>
                </a:solidFill>
              </a:defRPr>
            </a:pPr>
            <a:r>
              <a:rPr sz="1050" b="1">
                <a:solidFill>
                  <a:srgbClr val="BDF2D5"/>
                </a:solidFill>
              </a:rPr>
              <a:t>SPEED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4AA12-7F20-4F07-B874-8CDC2945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5740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Median time from creation to full lineup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D302C-8066-4124-893D-FE5B9CF9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9545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6B"/>
          </a:solidFill>
          <a:ln xmlns:a="http://schemas.openxmlformats.org/drawingml/2006/main" w="0">
            <a:solidFill>
              <a:srgbClr val="3157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19F8E-62AA-468A-AC52-D747B7AA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F2D5"/>
                </a:solidFill>
              </a:defRPr>
            </a:pPr>
            <a:r>
              <a:rPr sz="1050" b="1">
                <a:solidFill>
                  <a:srgbClr val="BDF2D5"/>
                </a:solidFill>
              </a:rPr>
              <a:t>RECOVERY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770A8-9678-4317-B116-4A72898D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Cancelled seats recovered through waitlist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605BF-0613-4F9D-A1A0-8CD08A25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F2D5"/>
                </a:solidFill>
              </a:defRPr>
            </a:pPr>
            <a:r>
              <a:rPr sz="1050" b="1">
                <a:solidFill>
                  <a:srgbClr val="BDF2D5"/>
                </a:solidFill>
              </a:rPr>
              <a:t>RETURN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72FA2-D818-4D61-8978-72FD55B1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Players joining another game within 14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819A3-82B7-44D0-AB96-7222C2FD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004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6B"/>
          </a:solidFill>
          <a:ln xmlns:a="http://schemas.openxmlformats.org/drawingml/2006/main" w="0">
            <a:solidFill>
              <a:srgbClr val="3157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C9C61-A038-4204-9616-D3F96ED0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00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F2D5"/>
                </a:solidFill>
              </a:defRPr>
            </a:pPr>
            <a:r>
              <a:rPr sz="1050" b="1">
                <a:solidFill>
                  <a:srgbClr val="BDF2D5"/>
                </a:solidFill>
              </a:rPr>
              <a:t>CONNECTION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A1530-49AC-46C1-BDDA-C7C5E668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623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Repeat games between the same players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2F4D2-6342-4FC8-B6C1-7F1E3BE5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04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6B"/>
          </a:solidFill>
          <a:ln xmlns:a="http://schemas.openxmlformats.org/drawingml/2006/main" w="0">
            <a:solidFill>
              <a:srgbClr val="3157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65118-0F3C-41A8-9C20-A64BD753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F2D5"/>
                </a:solidFill>
              </a:defRPr>
            </a:pPr>
            <a:r>
              <a:rPr sz="1050" b="1">
                <a:solidFill>
                  <a:srgbClr val="BDF2D5"/>
                </a:solidFill>
              </a:rPr>
              <a:t>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F06BE-9D5B-4308-B66C-B162A717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Completed games with feedback or a post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6920F-D2CE-424A-BC29-2B534C57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BDF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07FA8-E27C-4246-8E61-2FCAE219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82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638"/>
                </a:solidFill>
              </a:defRPr>
            </a:pPr>
            <a:r>
              <a:rPr sz="1650" b="1">
                <a:solidFill>
                  <a:srgbClr val="0A2638"/>
                </a:solidFill>
              </a:rPr>
              <a:t>Launch in Whitefield → validate session liquidity → expand across Bengaluru and six racket sports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77D9BB-9AE2-470F-8F47-0E9FFA8B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DF2D5"/>
                </a:solidFill>
              </a:defRPr>
            </a:pPr>
            <a:r>
              <a:rPr sz="1800" b="1">
                <a:solidFill>
                  <a:srgbClr val="BDF2D5"/>
                </a:solidFill>
              </a:rPr>
              <a:t>CourtMate turns a one-off game into a living sport network.</a:t>
            </a:r>
          </a:p>
        </p:txBody>
      </p:sp>
    </p:spTree>
    <p:extLst>
      <p:ext uri="{BB962C8B-B14F-4D97-AF65-F5344CB8AC3E}">
        <p14:creationId xmlns:p14="http://schemas.microsoft.com/office/powerpoint/2010/main" val="1007273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2026-09-02T14:04:20.3280000Z</dcterms:created>
  <dcterms:modified xsi:type="dcterms:W3CDTF">2026-09-02T14:04:20.3280000Z</dcterms:modified>
</coreProperties>
</file>