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ead3cf15a249cb" /><Relationship Type="http://schemas.openxmlformats.org/officeDocument/2006/relationships/extended-properties" Target="/docProps/app.xml" Id="R9291679a973c4542" /><Relationship Type="http://schemas.openxmlformats.org/officeDocument/2006/relationships/officeDocument" Target="/ppt/presentation.xml" Id="Rc12977a52b3b44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567c527dea4b8e"/>
  </p:sldMasterIdLst>
  <p:notesMasterIdLst>
    <p:notesMasterId xmlns:r="http://schemas.openxmlformats.org/officeDocument/2006/relationships" r:id="R705cbdb7b6a14e11"/>
  </p:notesMasterIdLst>
  <p:sldIdLst>
    <p:sldId xmlns:r="http://schemas.openxmlformats.org/officeDocument/2006/relationships" id="256" r:id="R3675212123d0415d"/>
    <p:sldId xmlns:r="http://schemas.openxmlformats.org/officeDocument/2006/relationships" id="257" r:id="R4b83da84b1174754"/>
    <p:sldId xmlns:r="http://schemas.openxmlformats.org/officeDocument/2006/relationships" id="258" r:id="R381936925b8a4aff"/>
    <p:sldId xmlns:r="http://schemas.openxmlformats.org/officeDocument/2006/relationships" id="259" r:id="R1414b8baa5034151"/>
    <p:sldId xmlns:r="http://schemas.openxmlformats.org/officeDocument/2006/relationships" id="260" r:id="R010947c99fcf4f72"/>
    <p:sldId xmlns:r="http://schemas.openxmlformats.org/officeDocument/2006/relationships" id="261" r:id="R44b02c3e6f00410b"/>
    <p:sldId xmlns:r="http://schemas.openxmlformats.org/officeDocument/2006/relationships" id="262" r:id="R853601b27ddc4c84"/>
    <p:sldId xmlns:r="http://schemas.openxmlformats.org/officeDocument/2006/relationships" id="263" r:id="R382635ae69544c86"/>
    <p:sldId xmlns:r="http://schemas.openxmlformats.org/officeDocument/2006/relationships" id="264" r:id="R082b4de6aaf44b15"/>
    <p:sldId xmlns:r="http://schemas.openxmlformats.org/officeDocument/2006/relationships" id="265" r:id="Rd8daadde74b447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a45429bc5943f0" /><Relationship Type="http://schemas.openxmlformats.org/officeDocument/2006/relationships/slideMaster" Target="/ppt/slideMasters/slideMaster1.xml" Id="Rd4567c527dea4b8e" /><Relationship Type="http://schemas.openxmlformats.org/officeDocument/2006/relationships/notesMaster" Target="/ppt/notesMasters/notesMaster1.xml" Id="R705cbdb7b6a14e11" /><Relationship Type="http://schemas.openxmlformats.org/officeDocument/2006/relationships/presProps" Target="/ppt/presProps.xml" Id="Rc2323da27f3246e6" /><Relationship Type="http://schemas.openxmlformats.org/officeDocument/2006/relationships/tableStyles" Target="/ppt/tableStyles.xml" Id="R7791487b51a0425d" /><Relationship Type="http://schemas.openxmlformats.org/officeDocument/2006/relationships/slide" Target="/ppt/slides/slide1.xml" Id="R3675212123d0415d" /><Relationship Type="http://schemas.openxmlformats.org/officeDocument/2006/relationships/slide" Target="/ppt/slides/slide2.xml" Id="R4b83da84b1174754" /><Relationship Type="http://schemas.openxmlformats.org/officeDocument/2006/relationships/slide" Target="/ppt/slides/slide3.xml" Id="R381936925b8a4aff" /><Relationship Type="http://schemas.openxmlformats.org/officeDocument/2006/relationships/slide" Target="/ppt/slides/slide4.xml" Id="R1414b8baa5034151" /><Relationship Type="http://schemas.openxmlformats.org/officeDocument/2006/relationships/slide" Target="/ppt/slides/slide5.xml" Id="R010947c99fcf4f72" /><Relationship Type="http://schemas.openxmlformats.org/officeDocument/2006/relationships/slide" Target="/ppt/slides/slide6.xml" Id="R44b02c3e6f00410b" /><Relationship Type="http://schemas.openxmlformats.org/officeDocument/2006/relationships/slide" Target="/ppt/slides/slide7.xml" Id="R853601b27ddc4c84" /><Relationship Type="http://schemas.openxmlformats.org/officeDocument/2006/relationships/slide" Target="/ppt/slides/slide8.xml" Id="R382635ae69544c86" /><Relationship Type="http://schemas.openxmlformats.org/officeDocument/2006/relationships/slide" Target="/ppt/slides/slide9.xml" Id="R082b4de6aaf44b15" /><Relationship Type="http://schemas.openxmlformats.org/officeDocument/2006/relationships/slide" Target="/ppt/slides/slide10.xml" Id="Rd8daadde74b447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33abc616b042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70286ddbcc4807" /><Relationship Type="http://schemas.openxmlformats.org/officeDocument/2006/relationships/notesMaster" Target="/ppt/notesMasters/notesMaster1.xml" Id="R3d0da9df93b242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6ea0a1560d43f0" /><Relationship Type="http://schemas.openxmlformats.org/officeDocument/2006/relationships/notesMaster" Target="/ppt/notesMasters/notesMaster1.xml" Id="R0e93ee816a8548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34de76463f45c1" /><Relationship Type="http://schemas.openxmlformats.org/officeDocument/2006/relationships/notesMaster" Target="/ppt/notesMasters/notesMaster1.xml" Id="Rb999fd6a3c4e41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d2262aeb894628" /><Relationship Type="http://schemas.openxmlformats.org/officeDocument/2006/relationships/notesMaster" Target="/ppt/notesMasters/notesMaster1.xml" Id="R71ee764617cc43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aa3c89ceb243f0" /><Relationship Type="http://schemas.openxmlformats.org/officeDocument/2006/relationships/notesMaster" Target="/ppt/notesMasters/notesMaster1.xml" Id="Rb0019b0bee0346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a30ac7616c48d9" /><Relationship Type="http://schemas.openxmlformats.org/officeDocument/2006/relationships/notesMaster" Target="/ppt/notesMasters/notesMaster1.xml" Id="Ra59a19e4cfbb4e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2d7a5ad81f4edd" /><Relationship Type="http://schemas.openxmlformats.org/officeDocument/2006/relationships/notesMaster" Target="/ppt/notesMasters/notesMaster1.xml" Id="R36597612aadd41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4b48e12098420a" /><Relationship Type="http://schemas.openxmlformats.org/officeDocument/2006/relationships/notesMaster" Target="/ppt/notesMasters/notesMaster1.xml" Id="Rd4c0d13dc23142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89bf4900134621" /><Relationship Type="http://schemas.openxmlformats.org/officeDocument/2006/relationships/notesMaster" Target="/ppt/notesMasters/notesMaster1.xml" Id="Re5acc2530d444d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a139621acd4558" /><Relationship Type="http://schemas.openxmlformats.org/officeDocument/2006/relationships/notesMaster" Target="/ppt/notesMasters/notesMaster1.xml" Id="R1f5d8480765647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CourtMate PRD and Technical Design in the repository; product claims describe the current MVP direction.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CourtMate PRD and Technical Design in the repository; product claims describe the current MVP direction.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CourtMate PRD and Technical Design in the repository; product claims describe the current MVP direction.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CourtMate PRD and Technical Design in the repository; product claims describe the current MVP direction.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CourtMate PRD and Technical Design in the repository; product claims describe the current MVP direction.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CourtMate PRD and Technical Design in the repository; product claims describe the current MVP direction.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CourtMate PRD and Technical Design in the repository; product claims describe the current MVP direction.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CourtMate PRD and Technical Design in the repository; product claims describe the current MVP direction.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CourtMate PRD and Technical Design in the repository; product claims describe the current MVP direction.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CourtMate PRD and Technical Design in the repository; product claims describe the current MVP direction.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83eff2a5847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28e0ccc7814f62" /><Relationship Type="http://schemas.openxmlformats.org/officeDocument/2006/relationships/slideLayout" Target="/ppt/slideLayouts/slideLayout1.xml" Id="Rd3fb5fed0d7644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fb5fed0d7644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b84c5594a4f7a" /><Relationship Type="http://schemas.openxmlformats.org/officeDocument/2006/relationships/notesSlide" Target="/ppt/notesSlides/notesSlide1.xml" Id="Ree6a02e0b1d743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d20aefb224f60" /><Relationship Type="http://schemas.openxmlformats.org/officeDocument/2006/relationships/notesSlide" Target="/ppt/notesSlides/notesSlide2.xml" Id="R4fc3ccfe43f14f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45664bffe4126" /><Relationship Type="http://schemas.openxmlformats.org/officeDocument/2006/relationships/notesSlide" Target="/ppt/notesSlides/notesSlide3.xml" Id="R9f7662183e074b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16f3a899d415b" /><Relationship Type="http://schemas.openxmlformats.org/officeDocument/2006/relationships/notesSlide" Target="/ppt/notesSlides/notesSlide4.xml" Id="R5c4883ee086c4c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eb0a9f8f7407c" /><Relationship Type="http://schemas.openxmlformats.org/officeDocument/2006/relationships/notesSlide" Target="/ppt/notesSlides/notesSlide5.xml" Id="R141dd65ae7be42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f72a070044bd0" /><Relationship Type="http://schemas.openxmlformats.org/officeDocument/2006/relationships/notesSlide" Target="/ppt/notesSlides/notesSlide6.xml" Id="R0ab69f09c02b43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fe0b3ff60476c" /><Relationship Type="http://schemas.openxmlformats.org/officeDocument/2006/relationships/notesSlide" Target="/ppt/notesSlides/notesSlide7.xml" Id="Rec01cba1f9c24f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19a95f278474a" /><Relationship Type="http://schemas.openxmlformats.org/officeDocument/2006/relationships/notesSlide" Target="/ppt/notesSlides/notesSlide8.xml" Id="Rd2dcdde3cf284b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e3d6a6dde4aa7" /><Relationship Type="http://schemas.openxmlformats.org/officeDocument/2006/relationships/notesSlide" Target="/ppt/notesSlides/notesSlide9.xml" Id="R64d79291834340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c02deb8e24bda" /><Relationship Type="http://schemas.openxmlformats.org/officeDocument/2006/relationships/notesSlide" Target="/ppt/notesSlides/notesSlide10.xml" Id="R7277c902bfef4f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66F1E-9AD2-42EE-B283-03579021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48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83C86-CBF2-40D0-BB8C-700ECEFD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716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5CAF1-9B29-4FF8-B5C8-1425B723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F52E"/>
                </a:solidFill>
              </a:defRPr>
            </a:pPr>
            <a:r>
              <a:rPr sz="1050" b="1">
                <a:solidFill>
                  <a:srgbClr val="D8F52E"/>
                </a:solidFill>
              </a:rPr>
              <a:t>COURTMATE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BC704-705C-46E8-8D11-7078B717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4F7E7"/>
                </a:solidFill>
              </a:defRPr>
            </a:pPr>
            <a:r>
              <a:rPr sz="4050" b="1">
                <a:solidFill>
                  <a:srgbClr val="F4F7E7"/>
                </a:solidFill>
              </a:rPr>
              <a:t>The missing layer</a:t>
            </a:r>
          </a:p>
          <a:p xmlns:a="http://schemas.openxmlformats.org/drawingml/2006/main">
            <a:pPr>
              <a:defRPr sz="4050" b="1">
                <a:solidFill>
                  <a:srgbClr val="F4F7E7"/>
                </a:solidFill>
              </a:defRPr>
            </a:pPr>
            <a:r>
              <a:rPr sz="4050" b="1">
                <a:solidFill>
                  <a:srgbClr val="F4F7E7"/>
                </a:solidFill>
              </a:rPr>
              <a:t>between finding a court</a:t>
            </a:r>
          </a:p>
          <a:p xmlns:a="http://schemas.openxmlformats.org/drawingml/2006/main">
            <a:pPr>
              <a:defRPr sz="4050" b="1">
                <a:solidFill>
                  <a:srgbClr val="F4F7E7"/>
                </a:solidFill>
              </a:defRPr>
            </a:pPr>
            <a:r>
              <a:rPr sz="4050" b="1">
                <a:solidFill>
                  <a:srgbClr val="F4F7E7"/>
                </a:solidFill>
              </a:rPr>
              <a:t>and building a community.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1A034-C269-4017-9410-2A693579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9EADA3"/>
                </a:solidFill>
              </a:defRPr>
            </a:pPr>
            <a:r>
              <a:rPr sz="1650">
                <a:solidFill>
                  <a:srgbClr val="9EADA3"/>
                </a:solidFill>
              </a:rPr>
              <a:t>A racket-sports network for better-fit games, trusted play, and circles that grow stronger every time people show 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C2F7E-0A41-4667-9B9E-24E03DD7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EADA3"/>
                </a:solidFill>
              </a:defRPr>
            </a:pPr>
            <a:r>
              <a:rPr sz="900">
                <a:solidFill>
                  <a:srgbClr val="9EADA3"/>
                </a:solidFill>
              </a:rPr>
              <a:t>BENGALURU · HACKATHON MVP · 2026</a:t>
            </a:r>
          </a:p>
        </p:txBody>
      </p:sp>
    </p:spTree>
    <p:extLst>
      <p:ext uri="{BB962C8B-B14F-4D97-AF65-F5344CB8AC3E}">
        <p14:creationId xmlns:p14="http://schemas.microsoft.com/office/powerpoint/2010/main" val="989656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80044-F311-47EF-88E6-FA14A5B4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F52E"/>
                </a:solidFill>
              </a:defRPr>
            </a:pPr>
            <a:r>
              <a:rPr sz="900" b="1">
                <a:solidFill>
                  <a:srgbClr val="D8F52E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4BB0D-C20A-430E-81C6-3AFBECCB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EADA3"/>
                </a:solidFill>
              </a:defRPr>
            </a:pPr>
            <a:r>
              <a:rPr sz="900">
                <a:solidFill>
                  <a:srgbClr val="9EADA3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2A347-B1B8-420F-866F-4DF6B763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13E2A-C528-4329-9827-4E822773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6E"/>
                </a:solidFill>
              </a:defRPr>
            </a:pPr>
            <a:r>
              <a:rPr sz="975" b="1">
                <a:solidFill>
                  <a:srgbClr val="FF806E"/>
                </a:solidFill>
              </a:rPr>
              <a:t>A FRAGMENTED HABIT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76DC5-56C2-47BB-B090-F5BE9C41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E7"/>
                </a:solidFill>
              </a:defRPr>
            </a:pPr>
            <a:r>
              <a:rPr sz="3525" b="1">
                <a:solidFill>
                  <a:srgbClr val="F4F7E7"/>
                </a:solidFill>
              </a:rPr>
              <a:t>The game exists. The connective tissue does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4039E-5E10-4A32-AED0-A5DC30DF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EADA3"/>
                </a:solidFill>
              </a:defRPr>
            </a:pPr>
            <a:r>
              <a:rPr sz="1575">
                <a:solidFill>
                  <a:srgbClr val="9EADA3"/>
                </a:solidFill>
              </a:rPr>
              <a:t>Players are already looking for games. The experience is scattered across chats, spreadsheets, labels, and memory.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49795-3783-4C62-A1DE-A21FF0CA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F52E"/>
                </a:solidFill>
              </a:defRPr>
            </a:pPr>
            <a:r>
              <a:rPr sz="1050" b="1">
                <a:solidFill>
                  <a:srgbClr val="D8F52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2BFC9-620A-49F2-8739-DE2E1F35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285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2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02E69-10DD-4E4B-860E-ECDD97A7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E7"/>
                </a:solidFill>
              </a:defRPr>
            </a:pPr>
            <a:r>
              <a:rPr sz="2025" b="1">
                <a:solidFill>
                  <a:srgbClr val="F4F7E7"/>
                </a:solidFill>
              </a:rPr>
              <a:t>Discovery is noisy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4959C-303C-4561-B24C-42C03463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EADA3"/>
                </a:solidFill>
              </a:defRPr>
            </a:pPr>
            <a:r>
              <a:rPr sz="1350">
                <a:solidFill>
                  <a:srgbClr val="9EADA3"/>
                </a:solidFill>
              </a:rPr>
              <a:t>Nearby games are buried in WhatsApp groups and one-off posts.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8E242-8A37-40BB-84FE-854DE84C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90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F52E"/>
                </a:solidFill>
              </a:defRPr>
            </a:pPr>
            <a:r>
              <a:rPr sz="1050" b="1">
                <a:solidFill>
                  <a:srgbClr val="D8F52E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80DC6-29AA-4CD8-823B-7EFCDC2A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90950"/>
            <a:ext cx="285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9FD8F-F0C6-4FD5-B7D3-DE45C576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38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E7"/>
                </a:solidFill>
              </a:defRPr>
            </a:pPr>
            <a:r>
              <a:rPr sz="2025" b="1">
                <a:solidFill>
                  <a:srgbClr val="F4F7E7"/>
                </a:solidFill>
              </a:rPr>
              <a:t>Skill is ambiguous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874B3-3581-4E49-8266-6793D04F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148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EADA3"/>
                </a:solidFill>
              </a:defRPr>
            </a:pPr>
            <a:r>
              <a:rPr sz="1350">
                <a:solidFill>
                  <a:srgbClr val="9EADA3"/>
                </a:solidFill>
              </a:rPr>
              <a:t>Beginner, intermediate, and advanced mean something different everywhere.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04C10-B413-40CF-9911-27F62F38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F52E"/>
                </a:solidFill>
              </a:defRPr>
            </a:pPr>
            <a:r>
              <a:rPr sz="1050" b="1">
                <a:solidFill>
                  <a:srgbClr val="D8F52E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C5547-47B9-44DA-A28B-1A6AED07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285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2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436D5-014F-465B-91AF-656DF196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38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E7"/>
                </a:solidFill>
              </a:defRPr>
            </a:pPr>
            <a:r>
              <a:rPr sz="2025" b="1">
                <a:solidFill>
                  <a:srgbClr val="F4F7E7"/>
                </a:solidFill>
              </a:rPr>
              <a:t>Trust resets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D5635-2124-446F-8380-34AC0F82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EADA3"/>
                </a:solidFill>
              </a:defRPr>
            </a:pPr>
            <a:r>
              <a:rPr sz="1350">
                <a:solidFill>
                  <a:srgbClr val="9EADA3"/>
                </a:solidFill>
              </a:rPr>
              <a:t>After the final point, the record, feedback, and context disappear.</a:t>
            </a:r>
          </a:p>
        </p:txBody>
      </p:sp>
    </p:spTree>
    <p:extLst>
      <p:ext uri="{BB962C8B-B14F-4D97-AF65-F5344CB8AC3E}">
        <p14:creationId xmlns:p14="http://schemas.microsoft.com/office/powerpoint/2010/main" val="1760875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2671D2-A1E7-4473-954C-F6B16D6F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F52E"/>
                </a:solidFill>
              </a:defRPr>
            </a:pPr>
            <a:r>
              <a:rPr sz="900" b="1">
                <a:solidFill>
                  <a:srgbClr val="D8F52E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D2187-0502-43F1-AF8D-C3273A7A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EADA3"/>
                </a:solidFill>
              </a:defRPr>
            </a:pPr>
            <a:r>
              <a:rPr sz="900">
                <a:solidFill>
                  <a:srgbClr val="9EADA3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9385C-AA83-4B8E-8EEA-B1BF5077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94343-47D7-410E-AEBF-82656432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6E"/>
                </a:solidFill>
              </a:defRPr>
            </a:pPr>
            <a:r>
              <a:rPr sz="975" b="1">
                <a:solidFill>
                  <a:srgbClr val="FF806E"/>
                </a:solidFill>
              </a:rPr>
              <a:t>ONE LOOP, NOT FIVE DISCONNECTED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F2D29-2D65-4B6F-B253-64945CB9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E7"/>
                </a:solidFill>
              </a:defRPr>
            </a:pPr>
            <a:r>
              <a:rPr sz="3525" b="1">
                <a:solidFill>
                  <a:srgbClr val="F4F7E7"/>
                </a:solidFill>
              </a:rPr>
              <a:t>CourtMate turns a search into a repeatable playing habit.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6934F-AAE6-4698-BCF6-801C078D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EADA3"/>
                </a:solidFill>
              </a:defRPr>
            </a:pPr>
            <a:r>
              <a:rPr sz="1575">
                <a:solidFill>
                  <a:srgbClr val="9EADA3"/>
                </a:solidFill>
              </a:rPr>
              <a:t>The product owns the fit, the coordination, the record, and the reason to come 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D772F-A863-45A6-99BF-A0691982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994AB-EC78-4739-AF19-BD4FE751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A16"/>
                </a:solidFill>
              </a:defRPr>
            </a:pPr>
            <a:r>
              <a:rPr sz="1125" b="1">
                <a:solidFill>
                  <a:srgbClr val="0C1A16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52D27-CF40-487E-9F4B-3D7B69CE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E7"/>
                </a:solidFill>
              </a:defRPr>
            </a:pPr>
            <a:r>
              <a:rPr sz="1575" b="1">
                <a:solidFill>
                  <a:srgbClr val="F4F7E7"/>
                </a:solidFill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20566-39E7-47DE-B125-3B901CF0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667125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2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8E8C1-1D48-4DB4-B3FE-47B0585E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71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81D8C-5FB6-44BE-93DC-46658ECB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242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A16"/>
                </a:solidFill>
              </a:defRPr>
            </a:pPr>
            <a:r>
              <a:rPr sz="1125" b="1">
                <a:solidFill>
                  <a:srgbClr val="0C1A16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30584-FECF-4394-B3A8-632E3C18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10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E7"/>
                </a:solidFill>
              </a:defRPr>
            </a:pPr>
            <a:r>
              <a:rPr sz="1575" b="1">
                <a:solidFill>
                  <a:srgbClr val="F4F7E7"/>
                </a:solidFill>
              </a:rPr>
              <a:t>Join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4182E-D093-48B5-AE66-6876703B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67125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2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14865-3D51-4B77-A8F7-8FFABF59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5EE66-722D-4291-9421-F83F1797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A16"/>
                </a:solidFill>
              </a:defRPr>
            </a:pPr>
            <a:r>
              <a:rPr sz="1125" b="1">
                <a:solidFill>
                  <a:srgbClr val="0C1A1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43FE2-569E-4033-AF13-439C36ED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E7"/>
                </a:solidFill>
              </a:defRPr>
            </a:pPr>
            <a:r>
              <a:rPr sz="1575" b="1">
                <a:solidFill>
                  <a:srgbClr val="F4F7E7"/>
                </a:solidFill>
              </a:rPr>
              <a:t>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D7A9A-3927-4691-8CED-2F74A3CD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67125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2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CE043-F0F1-4FFD-991D-733488C3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AB0F7E-D138-48AA-B693-EBC77C0F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A16"/>
                </a:solidFill>
              </a:defRPr>
            </a:pPr>
            <a:r>
              <a:rPr sz="1125" b="1">
                <a:solidFill>
                  <a:srgbClr val="0C1A16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9C25E-36E5-40F3-B80F-E8DB6EFE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0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E7"/>
                </a:solidFill>
              </a:defRPr>
            </a:pPr>
            <a:r>
              <a:rPr sz="1575" b="1">
                <a:solidFill>
                  <a:srgbClr val="F4F7E7"/>
                </a:solidFill>
              </a:rPr>
              <a:t>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EDFCC-E4C5-42C2-986F-4CC32298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667125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2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33C2A-8BD7-418B-92F6-BDD25661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71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FF3FE-8C73-4871-AE2A-22A2EE48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A16"/>
                </a:solidFill>
              </a:defRPr>
            </a:pPr>
            <a:r>
              <a:rPr sz="1125" b="1">
                <a:solidFill>
                  <a:srgbClr val="0C1A16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1FBDA-5567-48C7-9696-29707177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E7"/>
                </a:solidFill>
              </a:defRPr>
            </a:pPr>
            <a:r>
              <a:rPr sz="1575" b="1">
                <a:solidFill>
                  <a:srgbClr val="F4F7E7"/>
                </a:solidFill>
              </a:rPr>
              <a:t>Improve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3EB60-F4D1-4AB6-B1AB-EEE46DD6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67125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24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69805-6F87-4772-974D-80A88031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71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4BEB7-4494-4764-9D0E-744EFA01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242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A16"/>
                </a:solidFill>
              </a:defRPr>
            </a:pPr>
            <a:r>
              <a:rPr sz="1125" b="1">
                <a:solidFill>
                  <a:srgbClr val="0C1A16"/>
                </a:solidFill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8789B0-4CA2-4D65-AC0C-CB5AB987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10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E7"/>
                </a:solidFill>
              </a:defRPr>
            </a:pPr>
            <a:r>
              <a:rPr sz="1575" b="1">
                <a:solidFill>
                  <a:srgbClr val="F4F7E7"/>
                </a:solidFill>
              </a:rPr>
              <a:t>Return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D1735F-33B7-4465-9E1F-A4A341E5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340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8F52E"/>
                </a:solidFill>
              </a:defRPr>
            </a:pPr>
            <a:r>
              <a:rPr sz="2025" b="1">
                <a:solidFill>
                  <a:srgbClr val="D8F52E"/>
                </a:solidFill>
              </a:rPr>
              <a:t>Every completed game makes the next match more useful.</a:t>
            </a:r>
          </a:p>
        </p:txBody>
      </p:sp>
    </p:spTree>
    <p:extLst>
      <p:ext uri="{BB962C8B-B14F-4D97-AF65-F5344CB8AC3E}">
        <p14:creationId xmlns:p14="http://schemas.microsoft.com/office/powerpoint/2010/main" val="1610077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BCC2B0-33B0-4393-BA9E-6F2FEE63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F52E"/>
                </a:solidFill>
              </a:defRPr>
            </a:pPr>
            <a:r>
              <a:rPr sz="900" b="1">
                <a:solidFill>
                  <a:srgbClr val="D8F52E"/>
                </a:solidFill>
              </a:rPr>
              <a:t>THE USP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D9588-9AF4-4C59-A8E6-F08F00F6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EADA3"/>
                </a:solidFill>
              </a:defRPr>
            </a:pPr>
            <a:r>
              <a:rPr sz="900">
                <a:solidFill>
                  <a:srgbClr val="9EADA3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28144-7187-4B42-8A0E-03135957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FD5AB-781B-4863-AC23-3A0ED1E3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6E"/>
                </a:solidFill>
              </a:defRPr>
            </a:pPr>
            <a:r>
              <a:rPr sz="975" b="1">
                <a:solidFill>
                  <a:srgbClr val="FF806E"/>
                </a:solidFill>
              </a:rPr>
              <a:t>GAMES EXPLORE IS A LIVING LOCAL RADAR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47BF7-6D3E-4678-982A-FD4278DE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E7"/>
                </a:solidFill>
              </a:defRPr>
            </a:pPr>
            <a:r>
              <a:rPr sz="3525" b="1">
                <a:solidFill>
                  <a:srgbClr val="F4F7E7"/>
                </a:solidFill>
              </a:rPr>
              <a:t>The map makes the network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EB795-EB7D-4511-8DFB-F8A69C4E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EADA3"/>
                </a:solidFill>
              </a:defRPr>
            </a:pPr>
            <a:r>
              <a:rPr sz="1575">
                <a:solidFill>
                  <a:srgbClr val="9EADA3"/>
                </a:solidFill>
              </a:rPr>
              <a:t>Start with all nearby games around the player's approximate location. Filter only when intent becomes clear.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788B8-397A-49A9-9BE2-760B1577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76300"/>
            <a:ext cx="4381500" cy="4762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32A22"/>
          </a:solidFill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87A41-CACC-4B5C-A166-8F1D0CEE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47800"/>
            <a:ext cx="400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58132-0CF2-43CB-A6BD-D5589C60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400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E68D9-1BB3-4ABF-A9ED-DA4AB5BC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400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658A3-E119-4D53-B19D-B6A6DB55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19425"/>
            <a:ext cx="400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E735C-28D6-4D04-BECA-B5072D1D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400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E55E9-B4E7-4E10-8F18-92FDEC33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67175"/>
            <a:ext cx="400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0E3A8-3D71-4797-9E96-6B188669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400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03E48-C614-4E2E-BEBD-24A78D07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6800"/>
            <a:ext cx="361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1463A-A810-424C-82A1-281810ED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066800"/>
            <a:ext cx="361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63EBB-EF4F-45CA-A970-ED0D5F9B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66800"/>
            <a:ext cx="361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1DA8B-2866-42F0-BC0D-8C03F2C6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066800"/>
            <a:ext cx="361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534B7-9B02-49DC-8D9B-725FC6DE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66800"/>
            <a:ext cx="361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7FFD7-FF7C-4147-8A83-F70312F5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066800"/>
            <a:ext cx="361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13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269A6-0FE7-4D9F-A198-138E92AF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1290E-141D-4066-9BF6-B1205321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7833A-5A0F-4502-81B7-5C47732C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05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1A16"/>
                </a:solidFill>
              </a:defRPr>
            </a:pPr>
            <a:r>
              <a:rPr sz="1050" b="1">
                <a:solidFill>
                  <a:srgbClr val="0C1A16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F4A2BF-3C7E-413D-8A14-96824BD0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33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4A675-4530-4CCD-B776-742CBBC6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859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1A16"/>
                </a:solidFill>
              </a:defRPr>
            </a:pPr>
            <a:r>
              <a:rPr sz="1050" b="1">
                <a:solidFill>
                  <a:srgbClr val="0C1A16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09158F-02CB-4F7F-9B73-99ABB3A7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3A3F32-77C8-4F61-AB1A-1C40F79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7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1A16"/>
                </a:solidFill>
              </a:defRPr>
            </a:pPr>
            <a:r>
              <a:rPr sz="1050" b="1">
                <a:solidFill>
                  <a:srgbClr val="0C1A16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36570A-45A4-4881-B67D-6202A5F0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99C44-1CA0-4B3E-8783-78D79C0F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10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1A16"/>
                </a:solidFill>
              </a:defRPr>
            </a:pPr>
            <a:r>
              <a:rPr sz="1050" b="1">
                <a:solidFill>
                  <a:srgbClr val="0C1A16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DBC28F-58F5-476C-8E4C-388FE311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8FB476-D2F9-49F1-B677-20F9A718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101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1A16"/>
                </a:solidFill>
              </a:defRPr>
            </a:pPr>
            <a:r>
              <a:rPr sz="1050" b="1">
                <a:solidFill>
                  <a:srgbClr val="0C1A16"/>
                </a:solidFill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70097-BAF8-43B9-A7D6-921F073E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066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8F52E"/>
                </a:solidFill>
              </a:defRPr>
            </a:pPr>
            <a:r>
              <a:rPr sz="825" b="1">
                <a:solidFill>
                  <a:srgbClr val="D8F52E"/>
                </a:solidFill>
              </a:rPr>
              <a:t>ALL SPORTS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A4D097-0D37-4DCC-B90C-44E5898A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0668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ADA3"/>
                </a:solidFill>
              </a:defRPr>
            </a:pPr>
            <a:r>
              <a:rPr sz="825" b="1">
                <a:solidFill>
                  <a:srgbClr val="9EADA3"/>
                </a:solidFill>
              </a:rPr>
              <a:t>5 KM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7FFB10-2A3B-4C80-B87C-0C93573D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E7"/>
                </a:solidFill>
              </a:defRPr>
            </a:pPr>
            <a:r>
              <a:rPr sz="2250" b="1">
                <a:solidFill>
                  <a:srgbClr val="F4F7E7"/>
                </a:solidFill>
              </a:rPr>
              <a:t>Tap a point → see the games there → choose a Rally Circle.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EC211C-FF85-438A-AE71-888C603A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9EADA3"/>
                </a:solidFill>
              </a:defRPr>
            </a:pPr>
            <a:r>
              <a:rPr sz="1425">
                <a:solidFill>
                  <a:srgbClr val="9EADA3"/>
                </a:solidFill>
              </a:rPr>
              <a:t>No individual player pins. No dead-end lists. Just an understandable picture of where play is happening now.</a:t>
            </a:r>
          </a:p>
        </p:txBody>
      </p:sp>
    </p:spTree>
    <p:extLst>
      <p:ext uri="{BB962C8B-B14F-4D97-AF65-F5344CB8AC3E}">
        <p14:creationId xmlns:p14="http://schemas.microsoft.com/office/powerpoint/2010/main" val="2062342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6E313-0D87-4612-969A-957A1F37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F52E"/>
                </a:solidFill>
              </a:defRPr>
            </a:pPr>
            <a:r>
              <a:rPr sz="900" b="1">
                <a:solidFill>
                  <a:srgbClr val="D8F52E"/>
                </a:solidFill>
              </a:rPr>
              <a:t>TRUSTED CMR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439F2-087A-4577-A1F8-8221B60A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EADA3"/>
                </a:solidFill>
              </a:defRPr>
            </a:pPr>
            <a:r>
              <a:rPr sz="900">
                <a:solidFill>
                  <a:srgbClr val="9EADA3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70C16-A4B5-4F4F-8EAE-C18376E1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EF058-3964-48C9-8D65-94E5673F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6E"/>
                </a:solidFill>
              </a:defRPr>
            </a:pPr>
            <a:r>
              <a:rPr sz="975" b="1">
                <a:solidFill>
                  <a:srgbClr val="FF806E"/>
                </a:solidFill>
              </a:rPr>
              <a:t>SIMPLE INPUT. SOPHISTICATED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A2548-A63D-4DDB-AAD0-1B3E2AF2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E7"/>
                </a:solidFill>
              </a:defRPr>
            </a:pPr>
            <a:r>
              <a:rPr sz="3525" b="1">
                <a:solidFill>
                  <a:srgbClr val="F4F7E7"/>
                </a:solidFill>
              </a:rPr>
              <a:t>CMR starts human-friendly and earns its authority.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1FB48-DB24-4E1D-8125-104FD28F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EADA3"/>
                </a:solidFill>
              </a:defRPr>
            </a:pPr>
            <a:r>
              <a:rPr sz="1575">
                <a:solidFill>
                  <a:srgbClr val="9EADA3"/>
                </a:solidFill>
              </a:rPr>
              <a:t>A player can tell us where they think they belong. The profile is honest about what has and has not been proven yet.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D1046-A51D-4533-BF91-BB97215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32A22"/>
          </a:solidFill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3DA09-10C3-4BA7-BB88-9FA99855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806E"/>
                </a:solidFill>
              </a:defRPr>
            </a:pPr>
            <a:r>
              <a:rPr sz="900" b="1">
                <a:solidFill>
                  <a:srgbClr val="FF806E"/>
                </a:solidFill>
              </a:rPr>
              <a:t>ONBOARDING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CC3F7-0263-4149-9836-510843AF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7E7"/>
                </a:solidFill>
              </a:defRPr>
            </a:pPr>
            <a:r>
              <a:rPr sz="3150" b="1">
                <a:solidFill>
                  <a:srgbClr val="F4F7E7"/>
                </a:solidFill>
              </a:rPr>
              <a:t>Level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E5EA0-7E06-4F12-9057-796CF650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EADA3"/>
                </a:solidFill>
              </a:defRPr>
            </a:pPr>
            <a:r>
              <a:rPr sz="1200">
                <a:solidFill>
                  <a:srgbClr val="9EADA3"/>
                </a:solidFill>
              </a:rPr>
              <a:t>self-reported starting estimate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FE0FD-E870-4C75-8BEA-A1E58D27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71950"/>
            <a:ext cx="106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2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06A4A-37D5-4776-A5FB-B8ECB07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624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F52E"/>
                </a:solidFill>
              </a:defRPr>
            </a:pPr>
            <a:r>
              <a:rPr sz="2550" b="1">
                <a:solidFill>
                  <a:srgbClr val="D8F52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24615-7501-4FF8-A2B2-FCC9A857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5334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29253-4AD4-4D26-8835-1C23D732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242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C1A16"/>
                </a:solidFill>
              </a:defRPr>
            </a:pPr>
            <a:r>
              <a:rPr sz="900" b="1">
                <a:solidFill>
                  <a:srgbClr val="0C1A16"/>
                </a:solidFill>
              </a:rPr>
              <a:t>EVIDENCE BUILDS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07F4F-AF45-4788-B109-379E142D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052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A16"/>
                </a:solidFill>
              </a:defRPr>
            </a:pPr>
            <a:r>
              <a:rPr sz="2850" b="1">
                <a:solidFill>
                  <a:srgbClr val="0C1A16"/>
                </a:solidFill>
              </a:rPr>
              <a:t>5.00 → 5.28 → 5.43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F144F-DECB-495D-8797-6CFB7BD7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72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A22"/>
                </a:solidFill>
              </a:defRPr>
            </a:pPr>
            <a:r>
              <a:rPr sz="1200">
                <a:solidFill>
                  <a:srgbClr val="132A22"/>
                </a:solidFill>
              </a:rPr>
              <a:t>confirmed competitive results · partner strength · score margin ·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3BEB1-DD72-4495-8769-8823E210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9EADA3"/>
                </a:solidFill>
              </a:defRPr>
            </a:pPr>
            <a:r>
              <a:rPr sz="975">
                <a:solidFill>
                  <a:srgbClr val="9EADA3"/>
                </a:solidFill>
              </a:rPr>
              <a:t>0 games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B769D-71C3-47DD-A133-965FA8BE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43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E7"/>
                </a:solidFill>
              </a:defRPr>
            </a:pPr>
            <a:r>
              <a:rPr sz="1500" b="1">
                <a:solidFill>
                  <a:srgbClr val="F4F7E7"/>
                </a:solidFill>
              </a:rPr>
              <a:t>Starting level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371E8-FB80-4F6B-8949-75127C4F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57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D8F52E"/>
                </a:solidFill>
              </a:defRPr>
            </a:pPr>
            <a:r>
              <a:rPr sz="975">
                <a:solidFill>
                  <a:srgbClr val="D8F52E"/>
                </a:solidFill>
              </a:rPr>
              <a:t>3+ games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CA706-A788-4558-A4AD-387B1158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43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E7"/>
                </a:solidFill>
              </a:defRPr>
            </a:pPr>
            <a:r>
              <a:rPr sz="1500" b="1">
                <a:solidFill>
                  <a:srgbClr val="F4F7E7"/>
                </a:solidFill>
              </a:rPr>
              <a:t>Verified CMR</a:t>
            </a:r>
          </a:p>
        </p:txBody>
      </p:sp>
    </p:spTree>
    <p:extLst>
      <p:ext uri="{BB962C8B-B14F-4D97-AF65-F5344CB8AC3E}">
        <p14:creationId xmlns:p14="http://schemas.microsoft.com/office/powerpoint/2010/main" val="930569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EBD77-575D-4E6D-8DCE-702A7B3D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F52E"/>
                </a:solidFill>
              </a:defRPr>
            </a:pPr>
            <a:r>
              <a:rPr sz="900" b="1">
                <a:solidFill>
                  <a:srgbClr val="D8F52E"/>
                </a:solidFill>
              </a:rPr>
              <a:t>RALLY CIRCLES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99835-F3CF-46D1-B8A2-4E9C3042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EADA3"/>
                </a:solidFill>
              </a:defRPr>
            </a:pPr>
            <a:r>
              <a:rPr sz="900">
                <a:solidFill>
                  <a:srgbClr val="9EADA3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245C2-0BDC-412C-A49B-7521CDA9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BF2C6-A4B6-43B8-B796-CEE15EC0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6E"/>
                </a:solidFill>
              </a:defRPr>
            </a:pPr>
            <a:r>
              <a:rPr sz="975" b="1">
                <a:solidFill>
                  <a:srgbClr val="FF806E"/>
                </a:solidFill>
              </a:rPr>
              <a:t>THE GAME DOES NOT END AT ‘JOIN’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F1B7E-A25C-4E95-A2DA-315C4DDE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E7"/>
                </a:solidFill>
              </a:defRPr>
            </a:pPr>
            <a:r>
              <a:rPr sz="3525" b="1">
                <a:solidFill>
                  <a:srgbClr val="F4F7E7"/>
                </a:solidFill>
              </a:rPr>
              <a:t>Rally Circle keeps the social logistics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6EA6E-C699-417C-AF99-A2B2E315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EADA3"/>
                </a:solidFill>
              </a:defRPr>
            </a:pPr>
            <a:r>
              <a:rPr sz="1575">
                <a:solidFill>
                  <a:srgbClr val="9EADA3"/>
                </a:solidFill>
              </a:rPr>
              <a:t>A shared space for the lineup, requests, chat, time polls, completion, feedback, and the next 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6E052-421E-4C4C-BD67-FD712710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F52E"/>
                </a:solidFill>
              </a:defRPr>
            </a:pPr>
            <a:r>
              <a:rPr sz="975" b="1">
                <a:solidFill>
                  <a:srgbClr val="D8F52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BD021-B6D1-4460-8C33-A221C8DD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00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E7"/>
                </a:solidFill>
              </a:defRPr>
            </a:pPr>
            <a:r>
              <a:rPr sz="2025" b="1">
                <a:solidFill>
                  <a:srgbClr val="F4F7E7"/>
                </a:solidFill>
              </a:rPr>
              <a:t>Preview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276EC-B1B3-4B45-B469-31096056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EADA3"/>
                </a:solidFill>
              </a:defRPr>
            </a:pPr>
            <a:r>
              <a:rPr sz="1350">
                <a:solidFill>
                  <a:srgbClr val="9EADA3"/>
                </a:solidFill>
              </a:rPr>
              <a:t>See the people, time, CMR band, and vibe.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219D1-D36B-4019-A549-5C4592BB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623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19DFC-A046-43A9-9449-BF72347E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F52E"/>
                </a:solidFill>
              </a:defRPr>
            </a:pPr>
            <a:r>
              <a:rPr sz="975" b="1">
                <a:solidFill>
                  <a:srgbClr val="D8F52E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95E36-5C9C-4CD9-AF0A-15A91262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91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E7"/>
                </a:solidFill>
              </a:defRPr>
            </a:pPr>
            <a:r>
              <a:rPr sz="2025" b="1">
                <a:solidFill>
                  <a:srgbClr val="F4F7E7"/>
                </a:solidFill>
              </a:rPr>
              <a:t>Coordinate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E2760-6802-4156-942F-57A908C1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EADA3"/>
                </a:solidFill>
              </a:defRPr>
            </a:pPr>
            <a:r>
              <a:rPr sz="1350">
                <a:solidFill>
                  <a:srgbClr val="9EADA3"/>
                </a:solidFill>
              </a:rPr>
              <a:t>Chat, vote on a time window, and settle logistics.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A1299-3AFA-4FB3-9EE7-568416DB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529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E7F1F-C845-4717-8A59-09CED7C1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F52E"/>
                </a:solidFill>
              </a:defRPr>
            </a:pPr>
            <a:r>
              <a:rPr sz="975" b="1">
                <a:solidFill>
                  <a:srgbClr val="D8F52E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79504-38F8-4A0E-ADD3-25402D31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81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E7"/>
                </a:solidFill>
              </a:defRPr>
            </a:pPr>
            <a:r>
              <a:rPr sz="2025" b="1">
                <a:solidFill>
                  <a:srgbClr val="F4F7E7"/>
                </a:solidFill>
              </a:rPr>
              <a:t>Close the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BF0CE-4274-4520-886C-DBF0DC77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97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EADA3"/>
                </a:solidFill>
              </a:defRPr>
            </a:pPr>
            <a:r>
              <a:rPr sz="1350">
                <a:solidFill>
                  <a:srgbClr val="9EADA3"/>
                </a:solidFill>
              </a:rPr>
              <a:t>Confirm the result, rate privately, and publish the rally.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E91B0-F078-41B2-A1DD-6F64710E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435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F4579-B2E7-4D27-A728-DBAADEA5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00400"/>
            <a:ext cx="1047750" cy="27051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8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1A0F4-629E-43E0-95B6-8188190E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66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1A16"/>
                </a:solidFill>
              </a:defRPr>
            </a:pPr>
            <a:r>
              <a:rPr sz="1050" b="1">
                <a:solidFill>
                  <a:srgbClr val="0C1A16"/>
                </a:solidFill>
              </a:rPr>
              <a:t>SHOW</a:t>
            </a:r>
          </a:p>
          <a:p xmlns:a="http://schemas.openxmlformats.org/drawingml/2006/main">
            <a:pPr algn="ctr">
              <a:defRPr sz="1050" b="1">
                <a:solidFill>
                  <a:srgbClr val="0C1A16"/>
                </a:solidFill>
              </a:defRPr>
            </a:pPr>
            <a:r>
              <a:rPr sz="1050" b="1">
                <a:solidFill>
                  <a:srgbClr val="0C1A16"/>
                </a:solidFill>
              </a:rPr>
              <a:t>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0C1A16"/>
                </a:solidFill>
              </a:defRPr>
            </a:pPr>
            <a:r>
              <a:rPr sz="1050" b="1">
                <a:solidFill>
                  <a:srgbClr val="0C1A16"/>
                </a:solidFill>
              </a:rPr>
              <a:t>PLAY</a:t>
            </a:r>
          </a:p>
          <a:p xmlns:a="http://schemas.openxmlformats.org/drawingml/2006/main">
            <a:pPr algn="ctr">
              <a:defRPr sz="1050" b="1">
                <a:solidFill>
                  <a:srgbClr val="0C1A16"/>
                </a:solidFill>
              </a:defRPr>
            </a:pPr>
            <a:r>
              <a:rPr sz="1050" b="1">
                <a:solidFill>
                  <a:srgbClr val="0C1A16"/>
                </a:solidFill>
              </a:rPr>
              <a:t>AGAIN</a:t>
            </a:r>
          </a:p>
        </p:txBody>
      </p:sp>
    </p:spTree>
    <p:extLst>
      <p:ext uri="{BB962C8B-B14F-4D97-AF65-F5344CB8AC3E}">
        <p14:creationId xmlns:p14="http://schemas.microsoft.com/office/powerpoint/2010/main" val="12777205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60307-9F80-463B-BB35-6A69C855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F52E"/>
                </a:solidFill>
              </a:defRPr>
            </a:pPr>
            <a:r>
              <a:rPr sz="900" b="1">
                <a:solidFill>
                  <a:srgbClr val="D8F52E"/>
                </a:solidFill>
              </a:rPr>
              <a:t>THE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86294-5C5C-4695-BCB5-CF18F462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EADA3"/>
                </a:solidFill>
              </a:defRPr>
            </a:pPr>
            <a:r>
              <a:rPr sz="900">
                <a:solidFill>
                  <a:srgbClr val="9EADA3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A4408-07AA-477A-9EE1-02C04EC3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A042C-A635-4574-9558-96C66EA0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6E"/>
                </a:solidFill>
              </a:defRPr>
            </a:pPr>
            <a:r>
              <a:rPr sz="975" b="1">
                <a:solidFill>
                  <a:srgbClr val="FF806E"/>
                </a:solidFill>
              </a:rPr>
              <a:t>EACH GAME COMPOUNDS THE LOCAL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85B13-F405-4A55-ABFF-6C2A8E4F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E7"/>
                </a:solidFill>
              </a:defRPr>
            </a:pPr>
            <a:r>
              <a:rPr sz="3525" b="1">
                <a:solidFill>
                  <a:srgbClr val="F4F7E7"/>
                </a:solidFill>
              </a:rPr>
              <a:t>Quality is the growth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8903F-2CF6-401F-AA95-166EA691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EADA3"/>
                </a:solidFill>
              </a:defRPr>
            </a:pPr>
            <a:r>
              <a:rPr sz="1575">
                <a:solidFill>
                  <a:srgbClr val="9EADA3"/>
                </a:solidFill>
              </a:rPr>
              <a:t>More games create more evidence. More evidence creates better matches. Better matches make people return and invite their circle.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529F6-0D21-4EAE-A2A0-C6465B0C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862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F5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4A043-A1ED-45D9-893E-13725799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527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F5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BDBC5-62C7-4D16-875D-4E3EB97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957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F5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636B4-D3DE-40C3-AD8C-EB7F5864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F5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213F5-040D-4B17-9FE1-331950BB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19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039A4-ED67-4FD9-8A99-7F5EC703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767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A16"/>
                </a:solidFill>
              </a:defRPr>
            </a:pPr>
            <a:r>
              <a:rPr sz="900" b="1">
                <a:solidFill>
                  <a:srgbClr val="0C1A16"/>
                </a:solidFill>
              </a:rPr>
              <a:t>PLAYERS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2215A-AC6F-4093-8E81-5BEAEA50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D7F88-CC2D-4200-BADE-68466FEA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A16"/>
                </a:solidFill>
              </a:defRPr>
            </a:pPr>
            <a:r>
              <a:rPr sz="900" b="1">
                <a:solidFill>
                  <a:srgbClr val="0C1A16"/>
                </a:solidFill>
              </a:rPr>
              <a:t>GAMES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267E7-F503-4FDB-A3C2-B762FC2A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6B7AF-2F14-4411-B909-75A13CDB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767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A16"/>
                </a:solidFill>
              </a:defRPr>
            </a:pPr>
            <a:r>
              <a:rPr sz="900" b="1">
                <a:solidFill>
                  <a:srgbClr val="0C1A16"/>
                </a:solidFill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2B11C-4CBE-42AD-852F-BA0BEFC0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DB408-1082-4FF9-81E1-B4C57D3A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10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A16"/>
                </a:solidFill>
              </a:defRPr>
            </a:pPr>
            <a:r>
              <a:rPr sz="900" b="1">
                <a:solidFill>
                  <a:srgbClr val="0C1A16"/>
                </a:solidFill>
              </a:rPr>
              <a:t>RETURN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8E204-D9C1-45A0-AFE5-B9025DC2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24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9EADA3"/>
                </a:solidFill>
              </a:defRPr>
            </a:pPr>
            <a:r>
              <a:rPr sz="975">
                <a:solidFill>
                  <a:srgbClr val="9EADA3"/>
                </a:solidFill>
              </a:rPr>
              <a:t>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234BD-18D2-4126-B893-8727AA5F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9EADA3"/>
                </a:solidFill>
              </a:defRPr>
            </a:pPr>
            <a:r>
              <a:rPr sz="975">
                <a:solidFill>
                  <a:srgbClr val="9EADA3"/>
                </a:solidFill>
              </a:rPr>
              <a:t>Trust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965819-E5BC-419F-9563-7D4AE7DE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81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9EADA3"/>
                </a:solidFill>
              </a:defRPr>
            </a:pPr>
            <a:r>
              <a:rPr sz="975">
                <a:solidFill>
                  <a:srgbClr val="9EADA3"/>
                </a:solidFill>
              </a:rPr>
              <a:t>Motivation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D1FC3-131C-4186-99BE-B65EA1DB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150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7E7"/>
                </a:solidFill>
              </a:defRPr>
            </a:pPr>
            <a:r>
              <a:rPr sz="1725" b="1">
                <a:solidFill>
                  <a:srgbClr val="F4F7E7"/>
                </a:solidFill>
              </a:rPr>
              <a:t>The product gets smarter because people play, not because they fill out more forms.</a:t>
            </a:r>
          </a:p>
        </p:txBody>
      </p:sp>
    </p:spTree>
    <p:extLst>
      <p:ext uri="{BB962C8B-B14F-4D97-AF65-F5344CB8AC3E}">
        <p14:creationId xmlns:p14="http://schemas.microsoft.com/office/powerpoint/2010/main" val="1949927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4BD00-C6A2-4AEA-9324-2AB68233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F52E"/>
                </a:solidFill>
              </a:defRPr>
            </a:pPr>
            <a:r>
              <a:rPr sz="900" b="1">
                <a:solidFill>
                  <a:srgbClr val="D8F52E"/>
                </a:solidFill>
              </a:rPr>
              <a:t>BEACHHEAD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502C6-5388-4A50-8EEB-E0623FD8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EADA3"/>
                </a:solidFill>
              </a:defRPr>
            </a:pPr>
            <a:r>
              <a:rPr sz="900">
                <a:solidFill>
                  <a:srgbClr val="9EADA3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1EE99-774C-4DA6-8852-3580CBBC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7EA0F-93ED-42C2-9827-2E546B1B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6E"/>
                </a:solidFill>
              </a:defRPr>
            </a:pPr>
            <a:r>
              <a:rPr sz="975" b="1">
                <a:solidFill>
                  <a:srgbClr val="FF806E"/>
                </a:solidFill>
              </a:rPr>
              <a:t>START WHERE DENSITY AND URGENCY ALREADY 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9DEE4-0CF7-437D-8B64-CDE7377B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E7"/>
                </a:solidFill>
              </a:defRPr>
            </a:pPr>
            <a:r>
              <a:rPr sz="3525" b="1">
                <a:solidFill>
                  <a:srgbClr val="F4F7E7"/>
                </a:solidFill>
              </a:rPr>
              <a:t>Bengaluru is the first court.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E4E84-7385-4C1B-BF1E-835721F3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EADA3"/>
                </a:solidFill>
              </a:defRPr>
            </a:pPr>
            <a:r>
              <a:rPr sz="1575">
                <a:solidFill>
                  <a:srgbClr val="9EADA3"/>
                </a:solidFill>
              </a:rPr>
              <a:t>Whitefield is the starting wedge: a high-energy cluster of apartments, courts, communities, and players already coordinating informally.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2D9AB-EF69-4DE2-A808-B5DD3347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4762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32A22"/>
          </a:solidFill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7E052-FF8A-47A0-A44F-37F1CFE3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6E"/>
                </a:solidFill>
              </a:defRPr>
            </a:pPr>
            <a:r>
              <a:rPr sz="975" b="1">
                <a:solidFill>
                  <a:srgbClr val="FF806E"/>
                </a:solidFill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51152-F1A4-4630-8A96-4E44464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E7"/>
                </a:solidFill>
              </a:defRPr>
            </a:pPr>
            <a:r>
              <a:rPr sz="2100" b="1">
                <a:solidFill>
                  <a:srgbClr val="F4F7E7"/>
                </a:solidFill>
              </a:rPr>
              <a:t>Whitefield → Brookefield → Varthur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19A4D-F469-47A7-B069-1441AACA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EADA3"/>
                </a:solidFill>
              </a:defRPr>
            </a:pPr>
            <a:r>
              <a:rPr sz="1350">
                <a:solidFill>
                  <a:srgbClr val="9EADA3"/>
                </a:solidFill>
              </a:rPr>
              <a:t>One dense local loop, across six racket sports.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2AA8D-64E9-4350-9047-0A4FEE9C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2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FC381-4E24-4B55-B0A5-99D1D470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F52E"/>
                </a:solidFill>
              </a:defRPr>
            </a:pPr>
            <a:r>
              <a:rPr sz="975" b="1">
                <a:solidFill>
                  <a:srgbClr val="D8F52E"/>
                </a:solidFill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63DBF-02F9-4D1C-A667-18130BBF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7E7"/>
                </a:solidFill>
              </a:defRPr>
            </a:pPr>
            <a:r>
              <a:rPr sz="2175" b="1">
                <a:solidFill>
                  <a:srgbClr val="F4F7E7"/>
                </a:solidFill>
              </a:rPr>
              <a:t>Bengaluru → India → every</a:t>
            </a:r>
          </a:p>
          <a:p xmlns:a="http://schemas.openxmlformats.org/drawingml/2006/main">
            <a:pPr>
              <a:defRPr sz="2175" b="1">
                <a:solidFill>
                  <a:srgbClr val="F4F7E7"/>
                </a:solidFill>
              </a:defRPr>
            </a:pPr>
            <a:r>
              <a:rPr sz="2175" b="1">
                <a:solidFill>
                  <a:srgbClr val="F4F7E7"/>
                </a:solidFill>
              </a:rPr>
              <a:t>racket-sports community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75663-B235-4954-A7F2-DE0EF46F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10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EADA3"/>
                </a:solidFill>
              </a:defRPr>
            </a:pPr>
            <a:r>
              <a:rPr sz="1350">
                <a:solidFill>
                  <a:srgbClr val="9EADA3"/>
                </a:solidFill>
              </a:rPr>
              <a:t>Portable CMR, local trust, and a repeatable playbook.</a:t>
            </a:r>
          </a:p>
        </p:txBody>
      </p:sp>
    </p:spTree>
    <p:extLst>
      <p:ext uri="{BB962C8B-B14F-4D97-AF65-F5344CB8AC3E}">
        <p14:creationId xmlns:p14="http://schemas.microsoft.com/office/powerpoint/2010/main" val="18018620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DC4D5-5E60-4243-9B44-45D0CFD2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F52E"/>
                </a:solidFill>
              </a:defRPr>
            </a:pPr>
            <a:r>
              <a:rPr sz="900" b="1">
                <a:solidFill>
                  <a:srgbClr val="D8F52E"/>
                </a:solidFill>
              </a:rPr>
              <a:t>THE MOAT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6F494-A39E-4377-B939-BA3B5E6E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EADA3"/>
                </a:solidFill>
              </a:defRPr>
            </a:pPr>
            <a:r>
              <a:rPr sz="900">
                <a:solidFill>
                  <a:srgbClr val="9EADA3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1B73E-D74C-4FC4-9513-4DD2E48C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17E9A-FCA3-470C-8562-B49E4EA4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6E"/>
                </a:solidFill>
              </a:defRPr>
            </a:pPr>
            <a:r>
              <a:rPr sz="975" b="1">
                <a:solidFill>
                  <a:srgbClr val="FF806E"/>
                </a:solidFill>
              </a:rPr>
              <a:t>A TRUST GRAPH BUILT FROM REAL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4A72D-8451-40D1-86B2-AF9D3D53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E7"/>
                </a:solidFill>
              </a:defRPr>
            </a:pPr>
            <a:r>
              <a:rPr sz="3525" b="1">
                <a:solidFill>
                  <a:srgbClr val="F4F7E7"/>
                </a:solidFill>
              </a:rPr>
              <a:t>The defensibility is in the context around every game.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65A3D-8FDC-4E56-B0AB-D72EADD6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EADA3"/>
                </a:solidFill>
              </a:defRPr>
            </a:pPr>
            <a:r>
              <a:rPr sz="1575">
                <a:solidFill>
                  <a:srgbClr val="9EADA3"/>
                </a:solidFill>
              </a:rPr>
              <a:t>CourtMate connects identity, location, fit, attendance, private feedback, verified results, and community quality without exposing private player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31977-88E1-4354-81ED-9CEA1AAF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32A22"/>
          </a:solidFill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8E745-6A8C-49DC-BA7A-BAD05B2D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8F52E"/>
                </a:solidFill>
              </a:defRPr>
            </a:pPr>
            <a:r>
              <a:rPr sz="825" b="1">
                <a:solidFill>
                  <a:srgbClr val="D8F52E"/>
                </a:solidFill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17241-E785-46E2-BB8D-936DDD48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7E7"/>
                </a:solidFill>
              </a:defRPr>
            </a:pPr>
            <a:r>
              <a:rPr sz="1650" b="1">
                <a:solidFill>
                  <a:srgbClr val="F4F7E7"/>
                </a:solidFill>
              </a:rPr>
              <a:t>Who is playing?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52619-D510-44E6-8E3A-404DD975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386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EADA3"/>
                </a:solidFill>
              </a:defRPr>
            </a:pPr>
            <a:r>
              <a:rPr sz="2250" b="1">
                <a:solidFill>
                  <a:srgbClr val="9EADA3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4D932-ABB8-45A8-BFA6-A5053575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4330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32A22"/>
          </a:solidFill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F4264-2A8C-4B16-8778-636F0538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8F52E"/>
                </a:solidFill>
              </a:defRPr>
            </a:pPr>
            <a:r>
              <a:rPr sz="825" b="1">
                <a:solidFill>
                  <a:srgbClr val="D8F52E"/>
                </a:solidFill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FAAA3-0ABF-4E9B-8C1F-15A0B5A9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910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7E7"/>
                </a:solidFill>
              </a:defRPr>
            </a:pPr>
            <a:r>
              <a:rPr sz="1650" b="1">
                <a:solidFill>
                  <a:srgbClr val="F4F7E7"/>
                </a:solidFill>
              </a:rPr>
              <a:t>Where, when, and why?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38109-9FFB-4F20-B114-AC5B263D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EADA3"/>
                </a:solidFill>
              </a:defRPr>
            </a:pPr>
            <a:r>
              <a:rPr sz="2250" b="1">
                <a:solidFill>
                  <a:srgbClr val="9EADA3"/>
                </a:solidFill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7069B-3060-4FED-AD29-4E7BB7A8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4330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806E"/>
          </a:solidFill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C1A6D-F18F-4CCB-9C5F-9F294EC0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90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C1A16"/>
                </a:solidFill>
              </a:defRPr>
            </a:pPr>
            <a:r>
              <a:rPr sz="825" b="1">
                <a:solidFill>
                  <a:srgbClr val="0C1A16"/>
                </a:solidFill>
              </a:rPr>
              <a:t>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0552D-37E8-40F1-A540-866F84C1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910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C1A16"/>
                </a:solidFill>
              </a:defRPr>
            </a:pPr>
            <a:r>
              <a:rPr sz="1650" b="1">
                <a:solidFill>
                  <a:srgbClr val="0C1A16"/>
                </a:solidFill>
              </a:rPr>
              <a:t>What actually happened?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AD5C6-14DC-4265-B549-560340D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386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EADA3"/>
                </a:solidFill>
              </a:defRPr>
            </a:pPr>
            <a:r>
              <a:rPr sz="2250" b="1">
                <a:solidFill>
                  <a:srgbClr val="9EADA3"/>
                </a:solidFill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6A9F4-E18F-4DE8-92FE-3109DF53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4330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32A22"/>
          </a:solidFill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C1F02-DF4F-420B-9CE1-EDEBDE15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90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8F52E"/>
                </a:solidFill>
              </a:defRPr>
            </a:pPr>
            <a:r>
              <a:rPr sz="825" b="1">
                <a:solidFill>
                  <a:srgbClr val="D8F52E"/>
                </a:solidFill>
              </a:rPr>
              <a:t>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44D82A-0E97-4D0C-ACD6-5C48D484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910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7E7"/>
                </a:solidFill>
              </a:defRPr>
            </a:pPr>
            <a:r>
              <a:rPr sz="1650" b="1">
                <a:solidFill>
                  <a:srgbClr val="F4F7E7"/>
                </a:solidFill>
              </a:rPr>
              <a:t>What should happen next?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DC81-52B9-4086-A2A3-65C36B73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F52E"/>
                </a:solidFill>
              </a:defRPr>
            </a:pPr>
            <a:r>
              <a:rPr sz="1800" b="1">
                <a:solidFill>
                  <a:srgbClr val="D8F52E"/>
                </a:solidFill>
              </a:rPr>
              <a:t>Privacy-safe aggregation is a feature, not a compromise.</a:t>
            </a:r>
          </a:p>
        </p:txBody>
      </p:sp>
    </p:spTree>
    <p:extLst>
      <p:ext uri="{BB962C8B-B14F-4D97-AF65-F5344CB8AC3E}">
        <p14:creationId xmlns:p14="http://schemas.microsoft.com/office/powerpoint/2010/main" val="3108777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DDC76-6820-41F8-BBD1-3F77DB28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F52E"/>
                </a:solidFill>
              </a:defRPr>
            </a:pPr>
            <a:r>
              <a:rPr sz="900" b="1">
                <a:solidFill>
                  <a:srgbClr val="D8F52E"/>
                </a:solidFill>
              </a:rPr>
              <a:t>THE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15724-43C0-437C-9633-DE64AE4E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EADA3"/>
                </a:solidFill>
              </a:defRPr>
            </a:pPr>
            <a:r>
              <a:rPr sz="900">
                <a:solidFill>
                  <a:srgbClr val="9EADA3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00CCB-2597-4782-BA73-74404810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0F5B8-7181-4B48-829D-973BB14D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668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486F1-D3D1-4A86-92C3-AE61449B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66850"/>
            <a:ext cx="138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C1A16"/>
                </a:solidFill>
              </a:defRPr>
            </a:pPr>
            <a:r>
              <a:rPr sz="2175" b="1">
                <a:solidFill>
                  <a:srgbClr val="0C1A16"/>
                </a:solidFill>
              </a:rPr>
              <a:t>MAKE THE</a:t>
            </a:r>
          </a:p>
          <a:p xmlns:a="http://schemas.openxmlformats.org/drawingml/2006/main">
            <a:pPr algn="ctr">
              <a:defRPr sz="2175" b="1">
                <a:solidFill>
                  <a:srgbClr val="0C1A16"/>
                </a:solidFill>
              </a:defRPr>
            </a:pPr>
            <a:r>
              <a:rPr sz="2175" b="1">
                <a:solidFill>
                  <a:srgbClr val="0C1A16"/>
                </a:solidFill>
              </a:rPr>
              <a:t>NEXT GAME</a:t>
            </a:r>
          </a:p>
          <a:p xmlns:a="http://schemas.openxmlformats.org/drawingml/2006/main">
            <a:pPr algn="ctr">
              <a:defRPr sz="2175" b="1">
                <a:solidFill>
                  <a:srgbClr val="0C1A16"/>
                </a:solidFill>
              </a:defRPr>
            </a:pPr>
            <a:r>
              <a:rPr sz="2175" b="1">
                <a:solidFill>
                  <a:srgbClr val="0C1A16"/>
                </a:solidFill>
              </a:rPr>
              <a:t>EASIEST TO</a:t>
            </a:r>
          </a:p>
          <a:p xmlns:a="http://schemas.openxmlformats.org/drawingml/2006/main">
            <a:pPr algn="ctr">
              <a:defRPr sz="2175" b="1">
                <a:solidFill>
                  <a:srgbClr val="0C1A16"/>
                </a:solidFill>
              </a:defRPr>
            </a:pPr>
            <a:r>
              <a:rPr sz="2175" b="1">
                <a:solidFill>
                  <a:srgbClr val="0C1A16"/>
                </a:solidFill>
              </a:rPr>
              <a:t>JOIN.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4947E-645C-4FA5-9FD2-1ABA53C7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4F7E7"/>
                </a:solidFill>
              </a:defRPr>
            </a:pPr>
            <a:r>
              <a:rPr sz="4200" b="1">
                <a:solidFill>
                  <a:srgbClr val="F4F7E7"/>
                </a:solidFill>
              </a:rPr>
              <a:t>CourtMate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8AFDE-F820-408D-8025-580BA9A1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F52E"/>
                </a:solidFill>
              </a:defRPr>
            </a:pPr>
            <a:r>
              <a:rPr sz="2250" b="1">
                <a:solidFill>
                  <a:srgbClr val="D8F52E"/>
                </a:solidFill>
              </a:rPr>
              <a:t>Find community → join game → play → rate → improve CMR → get better 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7ECDC-D482-4AF1-B34A-AA297E7F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9EADA3"/>
                </a:solidFill>
              </a:defRPr>
            </a:pPr>
            <a:r>
              <a:rPr sz="1725">
                <a:solidFill>
                  <a:srgbClr val="9EADA3"/>
                </a:solidFill>
              </a:rPr>
              <a:t>We are building the connective layer that turns occasional court time into a trusted, growing habit.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D50CA-F342-45B2-99B1-0E48EA3A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80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64045-23BC-4191-A2A7-F32D8010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806E"/>
                </a:solidFill>
              </a:defRPr>
            </a:pPr>
            <a:r>
              <a:rPr sz="900" b="1">
                <a:solidFill>
                  <a:srgbClr val="FF806E"/>
                </a:solidFill>
              </a:rPr>
              <a:t>NEXT MILESTONE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5B486-91E7-4BB0-A47C-8F3C36AF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E7"/>
                </a:solidFill>
              </a:defRPr>
            </a:pPr>
            <a:r>
              <a:rPr sz="1950" b="1">
                <a:solidFill>
                  <a:srgbClr val="F4F7E7"/>
                </a:solidFill>
              </a:rPr>
              <a:t>Make Games Explore irresistible in Bengaluru.</a:t>
            </a:r>
          </a:p>
        </p:txBody>
      </p:sp>
    </p:spTree>
    <p:extLst>
      <p:ext uri="{BB962C8B-B14F-4D97-AF65-F5344CB8AC3E}">
        <p14:creationId xmlns:p14="http://schemas.microsoft.com/office/powerpoint/2010/main" val="1182977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2026-09-01T11:52:44.3950000Z</dcterms:created>
  <dcterms:modified xsi:type="dcterms:W3CDTF">2026-09-01T11:52:44.3950000Z</dcterms:modified>
</coreProperties>
</file>